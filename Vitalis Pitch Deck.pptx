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48768000" cy="27432000"/>
  <p:notesSz cx="6858000" cy="9144000"/>
  <p:embeddedFontLst>
    <p:embeddedFont>
      <p:font typeface="Poppins Bold" charset="1" panose="000008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86645" y="-4481355"/>
            <a:ext cx="36394710" cy="3639471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708714" y="-438550"/>
            <a:ext cx="31269145" cy="31230059"/>
          </a:xfrm>
          <a:custGeom>
            <a:avLst/>
            <a:gdLst/>
            <a:ahLst/>
            <a:cxnLst/>
            <a:rect r="r" b="b" t="t" l="l"/>
            <a:pathLst>
              <a:path h="31230059" w="31269145">
                <a:moveTo>
                  <a:pt x="0" y="0"/>
                </a:moveTo>
                <a:lnTo>
                  <a:pt x="31269145" y="0"/>
                </a:lnTo>
                <a:lnTo>
                  <a:pt x="31269145" y="31230059"/>
                </a:lnTo>
                <a:lnTo>
                  <a:pt x="0" y="31230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979684" y="-1688316"/>
            <a:ext cx="30808633" cy="308086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2807186" y="267218"/>
            <a:ext cx="5666058" cy="6704459"/>
          </a:xfrm>
          <a:custGeom>
            <a:avLst/>
            <a:gdLst/>
            <a:ahLst/>
            <a:cxnLst/>
            <a:rect r="r" b="b" t="t" l="l"/>
            <a:pathLst>
              <a:path h="6704459" w="5666058">
                <a:moveTo>
                  <a:pt x="0" y="0"/>
                </a:moveTo>
                <a:lnTo>
                  <a:pt x="5666058" y="0"/>
                </a:lnTo>
                <a:lnTo>
                  <a:pt x="5666058" y="6704459"/>
                </a:lnTo>
                <a:lnTo>
                  <a:pt x="0" y="6704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526125"/>
            <a:ext cx="6186645" cy="618664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0" y="10343527"/>
            <a:ext cx="48768000" cy="824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7"/>
              </a:lnSpc>
            </a:pPr>
            <a:r>
              <a:rPr lang="en-US" sz="20798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CBSE AI Practical 2026-27</a:t>
            </a:r>
          </a:p>
          <a:p>
            <a:pPr algn="ctr">
              <a:lnSpc>
                <a:spcPts val="11342"/>
              </a:lnSpc>
            </a:pPr>
            <a:r>
              <a:rPr lang="en-US" sz="8101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Pradhumya Singh Yadav | Dhairya Chaudhary | Aryan Chauhan</a:t>
            </a:r>
          </a:p>
          <a:p>
            <a:pPr algn="ctr">
              <a:lnSpc>
                <a:spcPts val="11342"/>
              </a:lnSpc>
            </a:pPr>
            <a:r>
              <a:rPr lang="en-US" sz="8101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Jagran Public School Noida</a:t>
            </a:r>
          </a:p>
          <a:p>
            <a:pPr algn="ctr">
              <a:lnSpc>
                <a:spcPts val="11342"/>
              </a:lnSpc>
              <a:spcBef>
                <a:spcPct val="0"/>
              </a:spcBef>
            </a:pPr>
            <a:r>
              <a:rPr lang="en-US" b="true" sz="810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Class: XIIth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00" cy="27432000"/>
            <a:chOff x="0" y="0"/>
            <a:chExt cx="36576000" cy="3657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6576000" cy="365760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204212" lIns="204212" bIns="204212" rIns="204212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539613" y="4062943"/>
              <a:ext cx="31424904" cy="31385623"/>
            </a:xfrm>
            <a:custGeom>
              <a:avLst/>
              <a:gdLst/>
              <a:ahLst/>
              <a:cxnLst/>
              <a:rect r="r" b="b" t="t" l="l"/>
              <a:pathLst>
                <a:path h="31385623" w="31424904">
                  <a:moveTo>
                    <a:pt x="0" y="0"/>
                  </a:moveTo>
                  <a:lnTo>
                    <a:pt x="31424904" y="0"/>
                  </a:lnTo>
                  <a:lnTo>
                    <a:pt x="31424904" y="31385623"/>
                  </a:lnTo>
                  <a:lnTo>
                    <a:pt x="0" y="31385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806951" y="2806951"/>
              <a:ext cx="30962098" cy="3096209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204212" lIns="204212" bIns="204212" rIns="204212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5236158" y="10447132"/>
              <a:ext cx="6103684" cy="6103684"/>
            </a:xfrm>
            <a:custGeom>
              <a:avLst/>
              <a:gdLst/>
              <a:ahLst/>
              <a:cxnLst/>
              <a:rect r="r" b="b" t="t" l="l"/>
              <a:pathLst>
                <a:path h="6103684" w="6103684">
                  <a:moveTo>
                    <a:pt x="0" y="0"/>
                  </a:moveTo>
                  <a:lnTo>
                    <a:pt x="6103684" y="0"/>
                  </a:lnTo>
                  <a:lnTo>
                    <a:pt x="6103684" y="6103684"/>
                  </a:lnTo>
                  <a:lnTo>
                    <a:pt x="0" y="610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103249" y="17430750"/>
              <a:ext cx="22369502" cy="695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9"/>
                </a:lnSpc>
                <a:spcBef>
                  <a:spcPct val="0"/>
                </a:spcBef>
              </a:pPr>
              <a:r>
                <a:rPr lang="en-US" b="true" sz="29999">
                  <a:solidFill>
                    <a:srgbClr val="1F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379238" y="12426632"/>
            <a:ext cx="9525" cy="232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23880720" y="10290440"/>
            <a:ext cx="2957424" cy="29574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191"/>
                </a:lnSpc>
              </a:pPr>
              <a:r>
                <a:rPr lang="en-US" b="true" sz="11565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₹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880720" y="6085985"/>
            <a:ext cx="2957424" cy="295742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880720" y="13822546"/>
            <a:ext cx="2957424" cy="295742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3880720" y="17969642"/>
            <a:ext cx="2957424" cy="295742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114300"/>
              <a:ext cx="660400" cy="850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9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4314079" y="6519344"/>
            <a:ext cx="2090706" cy="2090706"/>
          </a:xfrm>
          <a:custGeom>
            <a:avLst/>
            <a:gdLst/>
            <a:ahLst/>
            <a:cxnLst/>
            <a:rect r="r" b="b" t="t" l="l"/>
            <a:pathLst>
              <a:path h="2090706" w="2090706">
                <a:moveTo>
                  <a:pt x="0" y="0"/>
                </a:moveTo>
                <a:lnTo>
                  <a:pt x="2090707" y="0"/>
                </a:lnTo>
                <a:lnTo>
                  <a:pt x="2090707" y="2090706"/>
                </a:lnTo>
                <a:lnTo>
                  <a:pt x="0" y="20907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4565305" y="14495640"/>
            <a:ext cx="1588256" cy="1383226"/>
          </a:xfrm>
          <a:custGeom>
            <a:avLst/>
            <a:gdLst/>
            <a:ahLst/>
            <a:cxnLst/>
            <a:rect r="r" b="b" t="t" l="l"/>
            <a:pathLst>
              <a:path h="1383226" w="1588256">
                <a:moveTo>
                  <a:pt x="0" y="0"/>
                </a:moveTo>
                <a:lnTo>
                  <a:pt x="1588255" y="0"/>
                </a:lnTo>
                <a:lnTo>
                  <a:pt x="1588255" y="1383226"/>
                </a:lnTo>
                <a:lnTo>
                  <a:pt x="0" y="13832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4182128" y="18271050"/>
            <a:ext cx="2354608" cy="2354608"/>
          </a:xfrm>
          <a:custGeom>
            <a:avLst/>
            <a:gdLst/>
            <a:ahLst/>
            <a:cxnLst/>
            <a:rect r="r" b="b" t="t" l="l"/>
            <a:pathLst>
              <a:path h="2354608" w="2354608">
                <a:moveTo>
                  <a:pt x="0" y="0"/>
                </a:moveTo>
                <a:lnTo>
                  <a:pt x="2354609" y="0"/>
                </a:lnTo>
                <a:lnTo>
                  <a:pt x="2354609" y="2354608"/>
                </a:lnTo>
                <a:lnTo>
                  <a:pt x="0" y="23546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432000" y="6213785"/>
            <a:ext cx="18282017" cy="440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Diagnostic Gap: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inability of non-specialist health workers to accurately distinguish between complex respiratory sounds leads to high misdiagnosis rates.</a:t>
            </a:r>
          </a:p>
          <a:p>
            <a:pPr algn="just">
              <a:lnSpc>
                <a:spcPts val="7000"/>
              </a:lnSpc>
            </a:pPr>
          </a:p>
          <a:p>
            <a:pPr algn="just">
              <a:lnSpc>
                <a:spcPts val="700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7432000" y="10515910"/>
            <a:ext cx="18282017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naccessible Technology: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digital stethoscopes cost upwards of ₹35,000, making AI diagnostic tools unaffordable for local clinics and rural PHCs.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742783" y="14259439"/>
            <a:ext cx="18282017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"Tri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al-and-Error" Risk: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Local doctors often prescribe generic medication for serious symptoms, wasting critical time while underlying infections like Pneumonia worsen.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742783" y="18291816"/>
            <a:ext cx="18282017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Critical Ref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erral Delay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s: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early, objective detection for high-risk conditions results in late-stage hospitalizations and increased mortality in respiratory cases.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08024" y="11281110"/>
            <a:ext cx="38751951" cy="19256153"/>
            <a:chOff x="0" y="0"/>
            <a:chExt cx="51669268" cy="256748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3976"/>
              <a:ext cx="18992960" cy="4524886"/>
              <a:chOff x="0" y="0"/>
              <a:chExt cx="1093382" cy="2604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558888" y="609937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6"/>
                  </a:lnTo>
                  <a:lnTo>
                    <a:pt x="0" y="3646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467051" y="464030"/>
              <a:ext cx="3881018" cy="3596826"/>
              <a:chOff x="0" y="0"/>
              <a:chExt cx="877021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92050" y="612969"/>
              <a:ext cx="13232002" cy="8241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Real-time AI classification allows local doctors to identify high-risk pathologies instantly, ensuring life-saving treatment begins days earlier.</a:t>
              </a:r>
            </a:p>
            <a:p>
              <a:pPr algn="r">
                <a:lnSpc>
                  <a:spcPts val="7000"/>
                </a:lnSpc>
                <a:spcBef>
                  <a:spcPct val="0"/>
                </a:spcBef>
              </a:pPr>
            </a:p>
            <a:p>
              <a:pPr algn="r">
                <a:lnSpc>
                  <a:spcPts val="7000"/>
                </a:lnSpc>
                <a:spcBef>
                  <a:spcPct val="0"/>
                </a:spcBef>
              </a:pP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20550780" y="2316419"/>
              <a:ext cx="10569308" cy="0"/>
            </a:xfrm>
            <a:prstGeom prst="line">
              <a:avLst/>
            </a:prstGeom>
            <a:ln cap="flat" w="101600">
              <a:solidFill>
                <a:srgbClr val="F8F8F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0550780" y="9618372"/>
              <a:ext cx="10569308" cy="0"/>
            </a:xfrm>
            <a:prstGeom prst="line">
              <a:avLst/>
            </a:prstGeom>
            <a:ln cap="flat" w="101600">
              <a:solidFill>
                <a:srgbClr val="F8F8F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20131947" y="1928256"/>
              <a:ext cx="837666" cy="776327"/>
              <a:chOff x="0" y="0"/>
              <a:chExt cx="877021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701256" y="1928256"/>
              <a:ext cx="837666" cy="776327"/>
              <a:chOff x="0" y="0"/>
              <a:chExt cx="877021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131947" y="9230208"/>
              <a:ext cx="837666" cy="776327"/>
              <a:chOff x="0" y="0"/>
              <a:chExt cx="877021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0701256" y="9230208"/>
              <a:ext cx="837666" cy="776327"/>
              <a:chOff x="0" y="0"/>
              <a:chExt cx="877021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25835434" y="2367219"/>
              <a:ext cx="0" cy="23307651"/>
            </a:xfrm>
            <a:prstGeom prst="line">
              <a:avLst/>
            </a:prstGeom>
            <a:ln cap="flat" w="101600">
              <a:solidFill>
                <a:srgbClr val="F8F8F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0" y="7355929"/>
              <a:ext cx="18992960" cy="4524886"/>
              <a:chOff x="0" y="0"/>
              <a:chExt cx="1093382" cy="26048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14558888" y="7911889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14467051" y="7765982"/>
              <a:ext cx="3881018" cy="3596826"/>
              <a:chOff x="0" y="0"/>
              <a:chExt cx="877021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2676308" y="0"/>
              <a:ext cx="18992960" cy="4524886"/>
              <a:chOff x="0" y="0"/>
              <a:chExt cx="1093382" cy="26048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33837014" y="755844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6"/>
                  </a:lnTo>
                  <a:lnTo>
                    <a:pt x="0" y="3646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37" id="37"/>
            <p:cNvGrpSpPr/>
            <p:nvPr/>
          </p:nvGrpSpPr>
          <p:grpSpPr>
            <a:xfrm rot="0">
              <a:off x="33745177" y="609937"/>
              <a:ext cx="3881018" cy="3596826"/>
              <a:chOff x="0" y="0"/>
              <a:chExt cx="877021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2676308" y="7229986"/>
              <a:ext cx="18992960" cy="4524886"/>
              <a:chOff x="0" y="0"/>
              <a:chExt cx="1093382" cy="26048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33837014" y="7985829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33745177" y="7839922"/>
              <a:ext cx="3881018" cy="3596826"/>
              <a:chOff x="0" y="0"/>
              <a:chExt cx="877021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47" id="47"/>
          <p:cNvSpPr txBox="true"/>
          <p:nvPr/>
        </p:nvSpPr>
        <p:spPr>
          <a:xfrm rot="0">
            <a:off x="0" y="3520365"/>
            <a:ext cx="48768000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0"/>
              </a:lnSpc>
              <a:spcBef>
                <a:spcPct val="0"/>
              </a:spcBef>
            </a:pPr>
            <a:r>
              <a:rPr lang="en-US" b="true" sz="300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 Opportunity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08024" y="17038227"/>
            <a:ext cx="9924001" cy="532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Converting analog breath sounds into digital data enables the creation of a longitudinal health record for better patient monitoring and follow-up.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3447795" y="11701379"/>
            <a:ext cx="9609591" cy="532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Using low-cost, off-the-shelf hardware and open-source AI, this solution can be rapidly deployed across global regions with limited medical resources.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3447795" y="17481140"/>
            <a:ext cx="9924001" cy="443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By reducing the cost of digital stethoscopes by 80%, we can equip every ASHA worker and rural clinic with specialist-level screening tools.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408786" y="-5731311"/>
            <a:ext cx="38894623" cy="3889462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644791" y="-1410811"/>
            <a:ext cx="33416989" cy="33375217"/>
          </a:xfrm>
          <a:custGeom>
            <a:avLst/>
            <a:gdLst/>
            <a:ahLst/>
            <a:cxnLst/>
            <a:rect r="r" b="b" t="t" l="l"/>
            <a:pathLst>
              <a:path h="33375217" w="33416989">
                <a:moveTo>
                  <a:pt x="0" y="0"/>
                </a:moveTo>
                <a:lnTo>
                  <a:pt x="33416989" y="0"/>
                </a:lnTo>
                <a:lnTo>
                  <a:pt x="33416989" y="33375218"/>
                </a:lnTo>
                <a:lnTo>
                  <a:pt x="0" y="33375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0423897" y="-2746422"/>
            <a:ext cx="32924844" cy="329248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359711" y="8835643"/>
            <a:ext cx="3036715" cy="3036715"/>
          </a:xfrm>
          <a:custGeom>
            <a:avLst/>
            <a:gdLst/>
            <a:ahLst/>
            <a:cxnLst/>
            <a:rect r="r" b="b" t="t" l="l"/>
            <a:pathLst>
              <a:path h="3036715" w="3036715">
                <a:moveTo>
                  <a:pt x="0" y="0"/>
                </a:moveTo>
                <a:lnTo>
                  <a:pt x="3036716" y="0"/>
                </a:lnTo>
                <a:lnTo>
                  <a:pt x="3036716" y="3036715"/>
                </a:lnTo>
                <a:lnTo>
                  <a:pt x="0" y="30367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6837084" y="2743200"/>
            <a:ext cx="16742826" cy="23831854"/>
            <a:chOff x="0" y="0"/>
            <a:chExt cx="22323769" cy="3177580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2323769" cy="5398524"/>
              <a:chOff x="0" y="0"/>
              <a:chExt cx="1086655" cy="26278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86655" cy="262784"/>
              </a:xfrm>
              <a:custGeom>
                <a:avLst/>
                <a:gdLst/>
                <a:ahLst/>
                <a:cxnLst/>
                <a:rect r="r" b="b" t="t" l="l"/>
                <a:pathLst>
                  <a:path h="262784" w="1086655">
                    <a:moveTo>
                      <a:pt x="123461" y="0"/>
                    </a:moveTo>
                    <a:lnTo>
                      <a:pt x="963194" y="0"/>
                    </a:lnTo>
                    <a:cubicBezTo>
                      <a:pt x="1031379" y="0"/>
                      <a:pt x="1086655" y="55276"/>
                      <a:pt x="1086655" y="123461"/>
                    </a:cubicBezTo>
                    <a:lnTo>
                      <a:pt x="1086655" y="139323"/>
                    </a:lnTo>
                    <a:cubicBezTo>
                      <a:pt x="1086655" y="207509"/>
                      <a:pt x="1031379" y="262784"/>
                      <a:pt x="963194" y="262784"/>
                    </a:cubicBezTo>
                    <a:lnTo>
                      <a:pt x="123461" y="262784"/>
                    </a:lnTo>
                    <a:cubicBezTo>
                      <a:pt x="55276" y="262784"/>
                      <a:pt x="0" y="207509"/>
                      <a:pt x="0" y="139323"/>
                    </a:cubicBezTo>
                    <a:lnTo>
                      <a:pt x="0" y="123461"/>
                    </a:lnTo>
                    <a:cubicBezTo>
                      <a:pt x="0" y="55276"/>
                      <a:pt x="55276" y="0"/>
                      <a:pt x="123461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0"/>
                <a:ext cx="1086655" cy="358034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1364260" y="893896"/>
              <a:ext cx="4629820" cy="4311964"/>
            </a:xfrm>
            <a:custGeom>
              <a:avLst/>
              <a:gdLst/>
              <a:ahLst/>
              <a:cxnLst/>
              <a:rect r="r" b="b" t="t" l="l"/>
              <a:pathLst>
                <a:path h="4311964" w="4629820">
                  <a:moveTo>
                    <a:pt x="0" y="0"/>
                  </a:moveTo>
                  <a:lnTo>
                    <a:pt x="4629820" y="0"/>
                  </a:lnTo>
                  <a:lnTo>
                    <a:pt x="4629820" y="4311964"/>
                  </a:lnTo>
                  <a:lnTo>
                    <a:pt x="0" y="4311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18" r="0" b="-3618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1256317" y="721340"/>
              <a:ext cx="4561635" cy="4253777"/>
              <a:chOff x="0" y="0"/>
              <a:chExt cx="871625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7162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1625">
                    <a:moveTo>
                      <a:pt x="435812" y="0"/>
                    </a:moveTo>
                    <a:cubicBezTo>
                      <a:pt x="195120" y="0"/>
                      <a:pt x="0" y="181951"/>
                      <a:pt x="0" y="406400"/>
                    </a:cubicBezTo>
                    <a:cubicBezTo>
                      <a:pt x="0" y="630849"/>
                      <a:pt x="195120" y="812800"/>
                      <a:pt x="435812" y="812800"/>
                    </a:cubicBezTo>
                    <a:cubicBezTo>
                      <a:pt x="676505" y="812800"/>
                      <a:pt x="871625" y="630849"/>
                      <a:pt x="871625" y="406400"/>
                    </a:cubicBezTo>
                    <a:cubicBezTo>
                      <a:pt x="871625" y="181951"/>
                      <a:pt x="676505" y="0"/>
                      <a:pt x="43581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81715" y="-114300"/>
                <a:ext cx="708195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290425" y="296092"/>
              <a:ext cx="14378172" cy="5879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VITALIS uses an embedded neural network to instantly translate raw lung sounds into clinical labels like "Normal," "Wheeze," or "Crackle."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8550523"/>
              <a:ext cx="22323769" cy="5351344"/>
              <a:chOff x="0" y="0"/>
              <a:chExt cx="1086655" cy="26048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86655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86655">
                    <a:moveTo>
                      <a:pt x="123461" y="0"/>
                    </a:moveTo>
                    <a:lnTo>
                      <a:pt x="963194" y="0"/>
                    </a:lnTo>
                    <a:cubicBezTo>
                      <a:pt x="1031379" y="0"/>
                      <a:pt x="1086655" y="55276"/>
                      <a:pt x="1086655" y="123461"/>
                    </a:cubicBezTo>
                    <a:lnTo>
                      <a:pt x="1086655" y="137026"/>
                    </a:lnTo>
                    <a:cubicBezTo>
                      <a:pt x="1086655" y="205212"/>
                      <a:pt x="1031379" y="260488"/>
                      <a:pt x="963194" y="260488"/>
                    </a:cubicBezTo>
                    <a:lnTo>
                      <a:pt x="123461" y="260488"/>
                    </a:lnTo>
                    <a:cubicBezTo>
                      <a:pt x="55276" y="260488"/>
                      <a:pt x="0" y="205212"/>
                      <a:pt x="0" y="137026"/>
                    </a:cubicBezTo>
                    <a:lnTo>
                      <a:pt x="0" y="123461"/>
                    </a:lnTo>
                    <a:cubicBezTo>
                      <a:pt x="0" y="55276"/>
                      <a:pt x="55276" y="0"/>
                      <a:pt x="123461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0"/>
                <a:ext cx="1086655" cy="355738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1364260" y="9444419"/>
              <a:ext cx="4629820" cy="4311964"/>
            </a:xfrm>
            <a:custGeom>
              <a:avLst/>
              <a:gdLst/>
              <a:ahLst/>
              <a:cxnLst/>
              <a:rect r="r" b="b" t="t" l="l"/>
              <a:pathLst>
                <a:path h="4311964" w="4629820">
                  <a:moveTo>
                    <a:pt x="0" y="0"/>
                  </a:moveTo>
                  <a:lnTo>
                    <a:pt x="4629820" y="0"/>
                  </a:lnTo>
                  <a:lnTo>
                    <a:pt x="4629820" y="4311964"/>
                  </a:lnTo>
                  <a:lnTo>
                    <a:pt x="0" y="4311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18" r="0" b="-3618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1256317" y="9271863"/>
              <a:ext cx="4561635" cy="4253777"/>
              <a:chOff x="0" y="0"/>
              <a:chExt cx="871625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7162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1625">
                    <a:moveTo>
                      <a:pt x="435812" y="0"/>
                    </a:moveTo>
                    <a:cubicBezTo>
                      <a:pt x="195120" y="0"/>
                      <a:pt x="0" y="181951"/>
                      <a:pt x="0" y="406400"/>
                    </a:cubicBezTo>
                    <a:cubicBezTo>
                      <a:pt x="0" y="630849"/>
                      <a:pt x="195120" y="812800"/>
                      <a:pt x="435812" y="812800"/>
                    </a:cubicBezTo>
                    <a:cubicBezTo>
                      <a:pt x="676505" y="812800"/>
                      <a:pt x="871625" y="630849"/>
                      <a:pt x="871625" y="406400"/>
                    </a:cubicBezTo>
                    <a:cubicBezTo>
                      <a:pt x="871625" y="181951"/>
                      <a:pt x="676505" y="0"/>
                      <a:pt x="43581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81715" y="-114300"/>
                <a:ext cx="708195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2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54928" y="15913094"/>
              <a:ext cx="21918645" cy="5351344"/>
              <a:chOff x="0" y="0"/>
              <a:chExt cx="1066935" cy="26048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66935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66935">
                    <a:moveTo>
                      <a:pt x="125743" y="0"/>
                    </a:moveTo>
                    <a:lnTo>
                      <a:pt x="941191" y="0"/>
                    </a:lnTo>
                    <a:cubicBezTo>
                      <a:pt x="974541" y="0"/>
                      <a:pt x="1006524" y="13248"/>
                      <a:pt x="1030105" y="36829"/>
                    </a:cubicBezTo>
                    <a:cubicBezTo>
                      <a:pt x="1053687" y="60411"/>
                      <a:pt x="1066935" y="92394"/>
                      <a:pt x="1066935" y="125743"/>
                    </a:cubicBezTo>
                    <a:lnTo>
                      <a:pt x="1066935" y="134744"/>
                    </a:lnTo>
                    <a:cubicBezTo>
                      <a:pt x="1066935" y="204190"/>
                      <a:pt x="1010638" y="260488"/>
                      <a:pt x="941191" y="260488"/>
                    </a:cubicBezTo>
                    <a:lnTo>
                      <a:pt x="125743" y="260488"/>
                    </a:lnTo>
                    <a:cubicBezTo>
                      <a:pt x="92394" y="260488"/>
                      <a:pt x="60411" y="247240"/>
                      <a:pt x="36829" y="223658"/>
                    </a:cubicBezTo>
                    <a:cubicBezTo>
                      <a:pt x="13248" y="200077"/>
                      <a:pt x="0" y="168093"/>
                      <a:pt x="0" y="134744"/>
                    </a:cubicBezTo>
                    <a:lnTo>
                      <a:pt x="0" y="125743"/>
                    </a:lnTo>
                    <a:cubicBezTo>
                      <a:pt x="0" y="92394"/>
                      <a:pt x="13248" y="60411"/>
                      <a:pt x="36829" y="36829"/>
                    </a:cubicBezTo>
                    <a:cubicBezTo>
                      <a:pt x="60411" y="13248"/>
                      <a:pt x="92394" y="0"/>
                      <a:pt x="125743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95250"/>
                <a:ext cx="1066935" cy="355738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594430" y="16806991"/>
              <a:ext cx="4545799" cy="4311964"/>
            </a:xfrm>
            <a:custGeom>
              <a:avLst/>
              <a:gdLst/>
              <a:ahLst/>
              <a:cxnLst/>
              <a:rect r="r" b="b" t="t" l="l"/>
              <a:pathLst>
                <a:path h="4311964" w="4545799">
                  <a:moveTo>
                    <a:pt x="0" y="0"/>
                  </a:moveTo>
                  <a:lnTo>
                    <a:pt x="4545799" y="0"/>
                  </a:lnTo>
                  <a:lnTo>
                    <a:pt x="4545799" y="4311963"/>
                  </a:lnTo>
                  <a:lnTo>
                    <a:pt x="0" y="4311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45" r="0" b="-2645"/>
              </a:stretch>
            </a:blipFill>
          </p:spPr>
        </p:sp>
        <p:grpSp>
          <p:nvGrpSpPr>
            <p:cNvPr name="Group 33" id="33"/>
            <p:cNvGrpSpPr/>
            <p:nvPr/>
          </p:nvGrpSpPr>
          <p:grpSpPr>
            <a:xfrm rot="0">
              <a:off x="1488446" y="16634434"/>
              <a:ext cx="4478852" cy="4253777"/>
              <a:chOff x="0" y="0"/>
              <a:chExt cx="855807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558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807">
                    <a:moveTo>
                      <a:pt x="427903" y="0"/>
                    </a:moveTo>
                    <a:cubicBezTo>
                      <a:pt x="191579" y="0"/>
                      <a:pt x="0" y="181951"/>
                      <a:pt x="0" y="406400"/>
                    </a:cubicBezTo>
                    <a:cubicBezTo>
                      <a:pt x="0" y="630849"/>
                      <a:pt x="191579" y="812800"/>
                      <a:pt x="427903" y="812800"/>
                    </a:cubicBezTo>
                    <a:cubicBezTo>
                      <a:pt x="664228" y="812800"/>
                      <a:pt x="855807" y="630849"/>
                      <a:pt x="855807" y="406400"/>
                    </a:cubicBezTo>
                    <a:cubicBezTo>
                      <a:pt x="855807" y="181951"/>
                      <a:pt x="664228" y="0"/>
                      <a:pt x="42790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80232" y="-114300"/>
                <a:ext cx="695343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3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05124" y="24172738"/>
              <a:ext cx="21918645" cy="6113477"/>
              <a:chOff x="0" y="0"/>
              <a:chExt cx="1066935" cy="29758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66935" cy="297586"/>
              </a:xfrm>
              <a:custGeom>
                <a:avLst/>
                <a:gdLst/>
                <a:ahLst/>
                <a:cxnLst/>
                <a:rect r="r" b="b" t="t" l="l"/>
                <a:pathLst>
                  <a:path h="297586" w="1066935">
                    <a:moveTo>
                      <a:pt x="125743" y="0"/>
                    </a:moveTo>
                    <a:lnTo>
                      <a:pt x="941191" y="0"/>
                    </a:lnTo>
                    <a:cubicBezTo>
                      <a:pt x="974541" y="0"/>
                      <a:pt x="1006524" y="13248"/>
                      <a:pt x="1030105" y="36829"/>
                    </a:cubicBezTo>
                    <a:cubicBezTo>
                      <a:pt x="1053687" y="60411"/>
                      <a:pt x="1066935" y="92394"/>
                      <a:pt x="1066935" y="125743"/>
                    </a:cubicBezTo>
                    <a:lnTo>
                      <a:pt x="1066935" y="171843"/>
                    </a:lnTo>
                    <a:cubicBezTo>
                      <a:pt x="1066935" y="241289"/>
                      <a:pt x="1010638" y="297586"/>
                      <a:pt x="941191" y="297586"/>
                    </a:cubicBezTo>
                    <a:lnTo>
                      <a:pt x="125743" y="297586"/>
                    </a:lnTo>
                    <a:cubicBezTo>
                      <a:pt x="92394" y="297586"/>
                      <a:pt x="60411" y="284338"/>
                      <a:pt x="36829" y="260757"/>
                    </a:cubicBezTo>
                    <a:cubicBezTo>
                      <a:pt x="13248" y="237175"/>
                      <a:pt x="0" y="205192"/>
                      <a:pt x="0" y="171843"/>
                    </a:cubicBezTo>
                    <a:lnTo>
                      <a:pt x="0" y="125743"/>
                    </a:lnTo>
                    <a:cubicBezTo>
                      <a:pt x="0" y="92394"/>
                      <a:pt x="13248" y="60411"/>
                      <a:pt x="36829" y="36829"/>
                    </a:cubicBezTo>
                    <a:cubicBezTo>
                      <a:pt x="60411" y="13248"/>
                      <a:pt x="92394" y="0"/>
                      <a:pt x="125743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0"/>
                <a:ext cx="1066935" cy="392836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1744626" y="25357514"/>
              <a:ext cx="4545799" cy="4311964"/>
            </a:xfrm>
            <a:custGeom>
              <a:avLst/>
              <a:gdLst/>
              <a:ahLst/>
              <a:cxnLst/>
              <a:rect r="r" b="b" t="t" l="l"/>
              <a:pathLst>
                <a:path h="4311964" w="4545799">
                  <a:moveTo>
                    <a:pt x="0" y="0"/>
                  </a:moveTo>
                  <a:lnTo>
                    <a:pt x="4545799" y="0"/>
                  </a:lnTo>
                  <a:lnTo>
                    <a:pt x="4545799" y="4311963"/>
                  </a:lnTo>
                  <a:lnTo>
                    <a:pt x="0" y="4311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45" r="0" b="-2645"/>
              </a:stretch>
            </a:blipFill>
          </p:spPr>
        </p:sp>
        <p:grpSp>
          <p:nvGrpSpPr>
            <p:cNvPr name="Group 40" id="40"/>
            <p:cNvGrpSpPr/>
            <p:nvPr/>
          </p:nvGrpSpPr>
          <p:grpSpPr>
            <a:xfrm rot="0">
              <a:off x="1638642" y="25184958"/>
              <a:ext cx="4478852" cy="4253777"/>
              <a:chOff x="0" y="0"/>
              <a:chExt cx="855807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558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807">
                    <a:moveTo>
                      <a:pt x="427903" y="0"/>
                    </a:moveTo>
                    <a:cubicBezTo>
                      <a:pt x="191579" y="0"/>
                      <a:pt x="0" y="181951"/>
                      <a:pt x="0" y="406400"/>
                    </a:cubicBezTo>
                    <a:cubicBezTo>
                      <a:pt x="0" y="630849"/>
                      <a:pt x="191579" y="812800"/>
                      <a:pt x="427903" y="812800"/>
                    </a:cubicBezTo>
                    <a:cubicBezTo>
                      <a:pt x="664228" y="812800"/>
                      <a:pt x="855807" y="630849"/>
                      <a:pt x="855807" y="406400"/>
                    </a:cubicBezTo>
                    <a:cubicBezTo>
                      <a:pt x="855807" y="181951"/>
                      <a:pt x="664228" y="0"/>
                      <a:pt x="42790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80232" y="-114300"/>
                <a:ext cx="695343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4</a:t>
                </a: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6117494" y="9197231"/>
              <a:ext cx="14551103" cy="58790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By utilizing a high-fidelity I2S MEMS microphone, the device captures crystal-clear respiratory data without the electrical noise of traditional analog sensors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6203960" y="16094355"/>
              <a:ext cx="14378172" cy="8004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All AI inference is performed locally on the XIAO C6 microcontroller, ensuring diagnostic results are available in under 6ms without needing an internet connection.</a:t>
              </a:r>
            </a:p>
            <a:p>
              <a:pPr algn="l">
                <a:lnSpc>
                  <a:spcPts val="5534"/>
                </a:lnSpc>
                <a:spcBef>
                  <a:spcPct val="0"/>
                </a:spcBef>
              </a:pP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6290425" y="24715663"/>
              <a:ext cx="14291706" cy="7060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The system provides a standardized "second opinion" to local healthcare workers, reducing human error and ensuring high-risk patients are referred to hospitals immediately.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8567" y="12124023"/>
            <a:ext cx="19873069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0"/>
              </a:lnSpc>
              <a:spcBef>
                <a:spcPct val="0"/>
              </a:spcBef>
            </a:pPr>
            <a:r>
              <a:rPr lang="en-US" b="true" sz="300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Our Idea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05930" y="-17178070"/>
            <a:ext cx="34356141" cy="343561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30717" y="-13361714"/>
            <a:ext cx="29517673" cy="29480776"/>
          </a:xfrm>
          <a:custGeom>
            <a:avLst/>
            <a:gdLst/>
            <a:ahLst/>
            <a:cxnLst/>
            <a:rect r="r" b="b" t="t" l="l"/>
            <a:pathLst>
              <a:path h="29480776" w="29517673">
                <a:moveTo>
                  <a:pt x="0" y="0"/>
                </a:moveTo>
                <a:lnTo>
                  <a:pt x="29517674" y="0"/>
                </a:lnTo>
                <a:lnTo>
                  <a:pt x="29517674" y="29480776"/>
                </a:lnTo>
                <a:lnTo>
                  <a:pt x="0" y="29480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2522" y="-14541478"/>
            <a:ext cx="29082956" cy="290829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3281" y="8946881"/>
            <a:ext cx="19454873" cy="16552921"/>
            <a:chOff x="0" y="0"/>
            <a:chExt cx="25939831" cy="2207056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5939831" cy="22070561"/>
              <a:chOff x="0" y="0"/>
              <a:chExt cx="973702" cy="82846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73702" cy="828462"/>
              </a:xfrm>
              <a:custGeom>
                <a:avLst/>
                <a:gdLst/>
                <a:ahLst/>
                <a:cxnLst/>
                <a:rect r="r" b="b" t="t" l="l"/>
                <a:pathLst>
                  <a:path h="828462" w="973702">
                    <a:moveTo>
                      <a:pt x="81169" y="0"/>
                    </a:moveTo>
                    <a:lnTo>
                      <a:pt x="892533" y="0"/>
                    </a:lnTo>
                    <a:cubicBezTo>
                      <a:pt x="914060" y="0"/>
                      <a:pt x="934706" y="8552"/>
                      <a:pt x="949928" y="23774"/>
                    </a:cubicBezTo>
                    <a:cubicBezTo>
                      <a:pt x="965150" y="38996"/>
                      <a:pt x="973702" y="59642"/>
                      <a:pt x="973702" y="81169"/>
                    </a:cubicBezTo>
                    <a:lnTo>
                      <a:pt x="973702" y="747292"/>
                    </a:lnTo>
                    <a:cubicBezTo>
                      <a:pt x="973702" y="768820"/>
                      <a:pt x="965150" y="789465"/>
                      <a:pt x="949928" y="804688"/>
                    </a:cubicBezTo>
                    <a:cubicBezTo>
                      <a:pt x="934706" y="819910"/>
                      <a:pt x="914060" y="828462"/>
                      <a:pt x="892533" y="828462"/>
                    </a:cubicBezTo>
                    <a:lnTo>
                      <a:pt x="81169" y="828462"/>
                    </a:lnTo>
                    <a:cubicBezTo>
                      <a:pt x="59642" y="828462"/>
                      <a:pt x="38996" y="819910"/>
                      <a:pt x="23774" y="804688"/>
                    </a:cubicBezTo>
                    <a:cubicBezTo>
                      <a:pt x="8552" y="789465"/>
                      <a:pt x="0" y="768820"/>
                      <a:pt x="0" y="747292"/>
                    </a:cubicBezTo>
                    <a:lnTo>
                      <a:pt x="0" y="81169"/>
                    </a:lnTo>
                    <a:cubicBezTo>
                      <a:pt x="0" y="59642"/>
                      <a:pt x="8552" y="38996"/>
                      <a:pt x="23774" y="23774"/>
                    </a:cubicBezTo>
                    <a:cubicBezTo>
                      <a:pt x="38996" y="8552"/>
                      <a:pt x="59642" y="0"/>
                      <a:pt x="81169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0"/>
                <a:ext cx="973702" cy="923712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776534" y="1152707"/>
              <a:ext cx="17257649" cy="52712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63"/>
                </a:lnSpc>
              </a:pPr>
              <a:r>
                <a:rPr lang="en-US" sz="754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SDG 3: Good Health and Well-being</a:t>
              </a:r>
            </a:p>
            <a:p>
              <a:pPr algn="l">
                <a:lnSpc>
                  <a:spcPts val="10563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246432"/>
              <a:ext cx="24034183" cy="12935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324441" indent="-662221" lvl="1">
                <a:lnSpc>
                  <a:spcPts val="8588"/>
                </a:lnSpc>
                <a:buFont typeface="Arial"/>
                <a:buChar char="•"/>
              </a:pPr>
              <a:r>
                <a:rPr lang="en-US" sz="613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Problem: Respiratory diseases are leading causes of mortality in rural areas due to misdiagnosis.</a:t>
              </a:r>
            </a:p>
            <a:p>
              <a:pPr algn="l">
                <a:lnSpc>
                  <a:spcPts val="8588"/>
                </a:lnSpc>
              </a:pPr>
            </a:p>
            <a:p>
              <a:pPr algn="l" marL="1324441" indent="-662221" lvl="1">
                <a:lnSpc>
                  <a:spcPts val="858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613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VITALIS Solution: Providing an automated "second opinion" for lung disease for early detection and timely intervention.</a:t>
              </a:r>
            </a:p>
            <a:p>
              <a:pPr algn="l">
                <a:lnSpc>
                  <a:spcPts val="858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569927" y="8946881"/>
            <a:ext cx="19454873" cy="15471942"/>
            <a:chOff x="0" y="0"/>
            <a:chExt cx="25939831" cy="2062925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5939831" cy="20629256"/>
              <a:chOff x="0" y="0"/>
              <a:chExt cx="973702" cy="77435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73702" cy="774359"/>
              </a:xfrm>
              <a:custGeom>
                <a:avLst/>
                <a:gdLst/>
                <a:ahLst/>
                <a:cxnLst/>
                <a:rect r="r" b="b" t="t" l="l"/>
                <a:pathLst>
                  <a:path h="774359" w="973702">
                    <a:moveTo>
                      <a:pt x="81169" y="0"/>
                    </a:moveTo>
                    <a:lnTo>
                      <a:pt x="892533" y="0"/>
                    </a:lnTo>
                    <a:cubicBezTo>
                      <a:pt x="914060" y="0"/>
                      <a:pt x="934706" y="8552"/>
                      <a:pt x="949928" y="23774"/>
                    </a:cubicBezTo>
                    <a:cubicBezTo>
                      <a:pt x="965150" y="38996"/>
                      <a:pt x="973702" y="59642"/>
                      <a:pt x="973702" y="81169"/>
                    </a:cubicBezTo>
                    <a:lnTo>
                      <a:pt x="973702" y="693190"/>
                    </a:lnTo>
                    <a:cubicBezTo>
                      <a:pt x="973702" y="714717"/>
                      <a:pt x="965150" y="735363"/>
                      <a:pt x="949928" y="750585"/>
                    </a:cubicBezTo>
                    <a:cubicBezTo>
                      <a:pt x="934706" y="765808"/>
                      <a:pt x="914060" y="774359"/>
                      <a:pt x="892533" y="774359"/>
                    </a:cubicBezTo>
                    <a:lnTo>
                      <a:pt x="81169" y="774359"/>
                    </a:lnTo>
                    <a:cubicBezTo>
                      <a:pt x="59642" y="774359"/>
                      <a:pt x="38996" y="765808"/>
                      <a:pt x="23774" y="750585"/>
                    </a:cubicBezTo>
                    <a:cubicBezTo>
                      <a:pt x="8552" y="735363"/>
                      <a:pt x="0" y="714717"/>
                      <a:pt x="0" y="693190"/>
                    </a:cubicBezTo>
                    <a:lnTo>
                      <a:pt x="0" y="81169"/>
                    </a:lnTo>
                    <a:cubicBezTo>
                      <a:pt x="0" y="59642"/>
                      <a:pt x="8552" y="38996"/>
                      <a:pt x="23774" y="23774"/>
                    </a:cubicBezTo>
                    <a:cubicBezTo>
                      <a:pt x="38996" y="8552"/>
                      <a:pt x="59642" y="0"/>
                      <a:pt x="81169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0"/>
                <a:ext cx="973702" cy="869609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776534" y="1152707"/>
              <a:ext cx="19163297" cy="52712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63"/>
                </a:lnSpc>
              </a:pPr>
              <a:r>
                <a:rPr lang="en-US" sz="754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SDG 9: Industry, Innovation, and Infrastructure</a:t>
              </a:r>
            </a:p>
            <a:p>
              <a:pPr algn="l">
                <a:lnSpc>
                  <a:spcPts val="10563"/>
                </a:lnSpc>
                <a:spcBef>
                  <a:spcPct val="0"/>
                </a:spcBef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7544607"/>
              <a:ext cx="24548345" cy="11494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1324441" indent="-662221" lvl="1">
                <a:lnSpc>
                  <a:spcPts val="8588"/>
                </a:lnSpc>
                <a:buFont typeface="Arial"/>
                <a:buChar char="•"/>
              </a:pPr>
              <a:r>
                <a:rPr lang="en-US" sz="613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Problem: Commercial digital stethoscopes are prohibitively expensive</a:t>
              </a:r>
            </a:p>
            <a:p>
              <a:pPr algn="l">
                <a:lnSpc>
                  <a:spcPts val="8588"/>
                </a:lnSpc>
              </a:pPr>
            </a:p>
            <a:p>
              <a:pPr algn="l" marL="1324441" indent="-662221" lvl="1">
                <a:lnSpc>
                  <a:spcPts val="858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613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VITALIS Solution: Utilizes "Edge Computing" via neural networks to provide diagnostic infrastructure with zero INTERNET dependency.</a:t>
              </a:r>
            </a:p>
            <a:p>
              <a:pPr algn="l">
                <a:lnSpc>
                  <a:spcPts val="858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19530" y="9839719"/>
            <a:ext cx="3876281" cy="3876281"/>
          </a:xfrm>
          <a:custGeom>
            <a:avLst/>
            <a:gdLst/>
            <a:ahLst/>
            <a:cxnLst/>
            <a:rect r="r" b="b" t="t" l="l"/>
            <a:pathLst>
              <a:path h="3876281" w="3876281">
                <a:moveTo>
                  <a:pt x="0" y="0"/>
                </a:moveTo>
                <a:lnTo>
                  <a:pt x="3876281" y="0"/>
                </a:lnTo>
                <a:lnTo>
                  <a:pt x="3876281" y="3876281"/>
                </a:lnTo>
                <a:lnTo>
                  <a:pt x="0" y="3876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7138991" y="9839719"/>
            <a:ext cx="3876281" cy="3876281"/>
          </a:xfrm>
          <a:custGeom>
            <a:avLst/>
            <a:gdLst/>
            <a:ahLst/>
            <a:cxnLst/>
            <a:rect r="r" b="b" t="t" l="l"/>
            <a:pathLst>
              <a:path h="3876281" w="3876281">
                <a:moveTo>
                  <a:pt x="0" y="0"/>
                </a:moveTo>
                <a:lnTo>
                  <a:pt x="3876281" y="0"/>
                </a:lnTo>
                <a:lnTo>
                  <a:pt x="3876281" y="3876281"/>
                </a:lnTo>
                <a:lnTo>
                  <a:pt x="0" y="38762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9058136" y="0"/>
            <a:ext cx="10651728" cy="10651728"/>
            <a:chOff x="0" y="0"/>
            <a:chExt cx="14202304" cy="142023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202304" cy="14202304"/>
            </a:xfrm>
            <a:custGeom>
              <a:avLst/>
              <a:gdLst/>
              <a:ahLst/>
              <a:cxnLst/>
              <a:rect r="r" b="b" t="t" l="l"/>
              <a:pathLst>
                <a:path h="14202304" w="14202304">
                  <a:moveTo>
                    <a:pt x="0" y="0"/>
                  </a:moveTo>
                  <a:lnTo>
                    <a:pt x="14202304" y="0"/>
                  </a:lnTo>
                  <a:lnTo>
                    <a:pt x="14202304" y="14202304"/>
                  </a:lnTo>
                  <a:lnTo>
                    <a:pt x="0" y="1420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311231" y="5801349"/>
              <a:ext cx="13579842" cy="2313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191"/>
                </a:lnSpc>
                <a:spcBef>
                  <a:spcPct val="0"/>
                </a:spcBef>
              </a:pPr>
              <a:r>
                <a:rPr lang="en-US" b="true" sz="10136">
                  <a:solidFill>
                    <a:srgbClr val="1F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SDGS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05930" y="-17178070"/>
            <a:ext cx="34356141" cy="343561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30717" y="-13361714"/>
            <a:ext cx="29517673" cy="29480776"/>
          </a:xfrm>
          <a:custGeom>
            <a:avLst/>
            <a:gdLst/>
            <a:ahLst/>
            <a:cxnLst/>
            <a:rect r="r" b="b" t="t" l="l"/>
            <a:pathLst>
              <a:path h="29480776" w="29517673">
                <a:moveTo>
                  <a:pt x="0" y="0"/>
                </a:moveTo>
                <a:lnTo>
                  <a:pt x="29517674" y="0"/>
                </a:lnTo>
                <a:lnTo>
                  <a:pt x="29517674" y="29480776"/>
                </a:lnTo>
                <a:lnTo>
                  <a:pt x="0" y="29480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2522" y="-14541478"/>
            <a:ext cx="29082956" cy="290829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3425437" y="9496395"/>
            <a:ext cx="13706242" cy="9304141"/>
            <a:chOff x="0" y="0"/>
            <a:chExt cx="18274989" cy="1240552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274989" cy="12405521"/>
              <a:chOff x="0" y="0"/>
              <a:chExt cx="1052050" cy="71415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52050" cy="714158"/>
              </a:xfrm>
              <a:custGeom>
                <a:avLst/>
                <a:gdLst/>
                <a:ahLst/>
                <a:cxnLst/>
                <a:rect r="r" b="b" t="t" l="l"/>
                <a:pathLst>
                  <a:path h="714158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639034"/>
                    </a:lnTo>
                    <a:cubicBezTo>
                      <a:pt x="1052050" y="658958"/>
                      <a:pt x="1044135" y="678066"/>
                      <a:pt x="1030047" y="692155"/>
                    </a:cubicBezTo>
                    <a:cubicBezTo>
                      <a:pt x="1015958" y="706243"/>
                      <a:pt x="996850" y="714158"/>
                      <a:pt x="976926" y="714158"/>
                    </a:cubicBezTo>
                    <a:lnTo>
                      <a:pt x="75125" y="714158"/>
                    </a:lnTo>
                    <a:cubicBezTo>
                      <a:pt x="55200" y="714158"/>
                      <a:pt x="36092" y="706243"/>
                      <a:pt x="22003" y="692155"/>
                    </a:cubicBezTo>
                    <a:cubicBezTo>
                      <a:pt x="7915" y="678066"/>
                      <a:pt x="0" y="658958"/>
                      <a:pt x="0" y="63903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0"/>
                <a:ext cx="1052050" cy="80940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765002" y="2338492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827634" y="1763360"/>
              <a:ext cx="11447355" cy="2278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7"/>
                </a:lnSpc>
                <a:spcBef>
                  <a:spcPct val="0"/>
                </a:spcBef>
              </a:pPr>
              <a:r>
                <a:rPr lang="en-US" b="true" sz="49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Prevention of Critical Complications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827634" y="4328367"/>
              <a:ext cx="10134571" cy="561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Enables early detection of high-risk pathologies, allowing for timely hospital referrals and reducing the risk of minor infections turning into emergencies.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2640967" y="3835651"/>
            <a:ext cx="3486065" cy="3531005"/>
          </a:xfrm>
          <a:custGeom>
            <a:avLst/>
            <a:gdLst/>
            <a:ahLst/>
            <a:cxnLst/>
            <a:rect r="r" b="b" t="t" l="l"/>
            <a:pathLst>
              <a:path h="3531005" w="3486065">
                <a:moveTo>
                  <a:pt x="0" y="0"/>
                </a:moveTo>
                <a:lnTo>
                  <a:pt x="3486066" y="0"/>
                </a:lnTo>
                <a:lnTo>
                  <a:pt x="3486066" y="3531005"/>
                </a:lnTo>
                <a:lnTo>
                  <a:pt x="0" y="353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73852" y="7681924"/>
            <a:ext cx="12220296" cy="217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7"/>
              </a:lnSpc>
              <a:spcBef>
                <a:spcPct val="0"/>
              </a:spcBef>
            </a:pPr>
            <a:r>
              <a:rPr lang="en-US" b="true" sz="12162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52809" y="10781583"/>
            <a:ext cx="13706242" cy="9304141"/>
            <a:chOff x="0" y="0"/>
            <a:chExt cx="18274989" cy="1240552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8274989" cy="12405521"/>
              <a:chOff x="0" y="0"/>
              <a:chExt cx="1052050" cy="71415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52050" cy="714158"/>
              </a:xfrm>
              <a:custGeom>
                <a:avLst/>
                <a:gdLst/>
                <a:ahLst/>
                <a:cxnLst/>
                <a:rect r="r" b="b" t="t" l="l"/>
                <a:pathLst>
                  <a:path h="714158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639034"/>
                    </a:lnTo>
                    <a:cubicBezTo>
                      <a:pt x="1052050" y="658958"/>
                      <a:pt x="1044135" y="678066"/>
                      <a:pt x="1030047" y="692155"/>
                    </a:cubicBezTo>
                    <a:cubicBezTo>
                      <a:pt x="1015958" y="706243"/>
                      <a:pt x="996850" y="714158"/>
                      <a:pt x="976926" y="714158"/>
                    </a:cubicBezTo>
                    <a:lnTo>
                      <a:pt x="75125" y="714158"/>
                    </a:lnTo>
                    <a:cubicBezTo>
                      <a:pt x="55200" y="714158"/>
                      <a:pt x="36092" y="706243"/>
                      <a:pt x="22003" y="692155"/>
                    </a:cubicBezTo>
                    <a:cubicBezTo>
                      <a:pt x="7915" y="678066"/>
                      <a:pt x="0" y="658958"/>
                      <a:pt x="0" y="63903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0"/>
                <a:ext cx="1052050" cy="80940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765002" y="2338492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6827634" y="1763360"/>
              <a:ext cx="11447355" cy="2278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7"/>
                </a:lnSpc>
                <a:spcBef>
                  <a:spcPct val="0"/>
                </a:spcBef>
              </a:pPr>
              <a:r>
                <a:rPr lang="en-US" b="true" sz="49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Elimination of Diagnostic Subjectivity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827634" y="4328367"/>
              <a:ext cx="10134571" cy="561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Replaces inconsistent human hearing with a standardized AI model, ensuring every patient receives an objective and accurate lung assessment.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42522" y="17993575"/>
            <a:ext cx="13706242" cy="8135388"/>
            <a:chOff x="0" y="0"/>
            <a:chExt cx="18274989" cy="10847183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8274989" cy="10847183"/>
              <a:chOff x="0" y="0"/>
              <a:chExt cx="1052050" cy="62444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52050" cy="624448"/>
              </a:xfrm>
              <a:custGeom>
                <a:avLst/>
                <a:gdLst/>
                <a:ahLst/>
                <a:cxnLst/>
                <a:rect r="r" b="b" t="t" l="l"/>
                <a:pathLst>
                  <a:path h="624448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549324"/>
                    </a:lnTo>
                    <a:cubicBezTo>
                      <a:pt x="1052050" y="569248"/>
                      <a:pt x="1044135" y="588356"/>
                      <a:pt x="1030047" y="602445"/>
                    </a:cubicBezTo>
                    <a:cubicBezTo>
                      <a:pt x="1015958" y="616533"/>
                      <a:pt x="996850" y="624448"/>
                      <a:pt x="976926" y="624448"/>
                    </a:cubicBezTo>
                    <a:lnTo>
                      <a:pt x="75125" y="624448"/>
                    </a:lnTo>
                    <a:cubicBezTo>
                      <a:pt x="55200" y="624448"/>
                      <a:pt x="36092" y="616533"/>
                      <a:pt x="22003" y="602445"/>
                    </a:cubicBezTo>
                    <a:cubicBezTo>
                      <a:pt x="7915" y="588356"/>
                      <a:pt x="0" y="569248"/>
                      <a:pt x="0" y="54932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95250"/>
                <a:ext cx="1052050" cy="71969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3210933" y="2909700"/>
              <a:ext cx="1262754" cy="1279033"/>
            </a:xfrm>
            <a:custGeom>
              <a:avLst/>
              <a:gdLst/>
              <a:ahLst/>
              <a:cxnLst/>
              <a:rect r="r" b="b" t="t" l="l"/>
              <a:pathLst>
                <a:path h="1279033" w="1262754">
                  <a:moveTo>
                    <a:pt x="0" y="0"/>
                  </a:moveTo>
                  <a:lnTo>
                    <a:pt x="1262754" y="0"/>
                  </a:lnTo>
                  <a:lnTo>
                    <a:pt x="1262754" y="1279033"/>
                  </a:lnTo>
                  <a:lnTo>
                    <a:pt x="0" y="127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5779599" y="1617453"/>
              <a:ext cx="11252816" cy="2278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8"/>
                </a:lnSpc>
                <a:spcBef>
                  <a:spcPct val="0"/>
                </a:spcBef>
              </a:pPr>
              <a:r>
                <a:rPr lang="en-US" b="true" sz="49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Cost-Effective Healthcare Infrastructure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779599" y="4074433"/>
              <a:ext cx="11252816" cy="561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Utilizes affordable, off-the-shelf hardware to provide professional-grade digital stethoscopy at a fraction of the cost of current market alternatives.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4384000" y="17844820"/>
            <a:ext cx="13706242" cy="8098660"/>
            <a:chOff x="0" y="0"/>
            <a:chExt cx="18274989" cy="10798213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8274989" cy="10798213"/>
              <a:chOff x="0" y="0"/>
              <a:chExt cx="1052050" cy="62162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52050" cy="621629"/>
              </a:xfrm>
              <a:custGeom>
                <a:avLst/>
                <a:gdLst/>
                <a:ahLst/>
                <a:cxnLst/>
                <a:rect r="r" b="b" t="t" l="l"/>
                <a:pathLst>
                  <a:path h="621629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546504"/>
                    </a:lnTo>
                    <a:cubicBezTo>
                      <a:pt x="1052050" y="566429"/>
                      <a:pt x="1044135" y="585537"/>
                      <a:pt x="1030047" y="599626"/>
                    </a:cubicBezTo>
                    <a:cubicBezTo>
                      <a:pt x="1015958" y="613714"/>
                      <a:pt x="996850" y="621629"/>
                      <a:pt x="976926" y="621629"/>
                    </a:cubicBezTo>
                    <a:lnTo>
                      <a:pt x="75125" y="621629"/>
                    </a:lnTo>
                    <a:cubicBezTo>
                      <a:pt x="55200" y="621629"/>
                      <a:pt x="36092" y="613714"/>
                      <a:pt x="22003" y="599626"/>
                    </a:cubicBezTo>
                    <a:cubicBezTo>
                      <a:pt x="7915" y="585537"/>
                      <a:pt x="0" y="566429"/>
                      <a:pt x="0" y="54650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0"/>
                <a:ext cx="1052050" cy="716879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52" id="52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3" id="53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3210933" y="2909700"/>
              <a:ext cx="1262754" cy="1279033"/>
            </a:xfrm>
            <a:custGeom>
              <a:avLst/>
              <a:gdLst/>
              <a:ahLst/>
              <a:cxnLst/>
              <a:rect r="r" b="b" t="t" l="l"/>
              <a:pathLst>
                <a:path h="1279033" w="1262754">
                  <a:moveTo>
                    <a:pt x="0" y="0"/>
                  </a:moveTo>
                  <a:lnTo>
                    <a:pt x="1262754" y="0"/>
                  </a:lnTo>
                  <a:lnTo>
                    <a:pt x="1262754" y="1279033"/>
                  </a:lnTo>
                  <a:lnTo>
                    <a:pt x="0" y="127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 rot="0">
              <a:off x="5779599" y="1617453"/>
              <a:ext cx="11252816" cy="2278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8"/>
                </a:lnSpc>
                <a:spcBef>
                  <a:spcPct val="0"/>
                </a:spcBef>
              </a:pPr>
              <a:r>
                <a:rPr lang="en-US" b="true" sz="49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Enhanced Rural Medical Reach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5779599" y="4074433"/>
              <a:ext cx="11252816" cy="467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Empowers frontline health workers and ASHA volunteers to perform complex diagnostic screenings in remote areas without specialist presence.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05930" y="-17178070"/>
            <a:ext cx="34356141" cy="343561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30717" y="-13361714"/>
            <a:ext cx="29517673" cy="29480776"/>
          </a:xfrm>
          <a:custGeom>
            <a:avLst/>
            <a:gdLst/>
            <a:ahLst/>
            <a:cxnLst/>
            <a:rect r="r" b="b" t="t" l="l"/>
            <a:pathLst>
              <a:path h="29480776" w="29517673">
                <a:moveTo>
                  <a:pt x="0" y="0"/>
                </a:moveTo>
                <a:lnTo>
                  <a:pt x="29517674" y="0"/>
                </a:lnTo>
                <a:lnTo>
                  <a:pt x="29517674" y="29480776"/>
                </a:lnTo>
                <a:lnTo>
                  <a:pt x="0" y="29480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2522" y="-14541478"/>
            <a:ext cx="29082956" cy="290829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207581" y="6810631"/>
            <a:ext cx="13706242" cy="9191036"/>
            <a:chOff x="0" y="0"/>
            <a:chExt cx="18274989" cy="122547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274989" cy="12254715"/>
              <a:chOff x="0" y="0"/>
              <a:chExt cx="1052050" cy="70547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52050" cy="705477"/>
              </a:xfrm>
              <a:custGeom>
                <a:avLst/>
                <a:gdLst/>
                <a:ahLst/>
                <a:cxnLst/>
                <a:rect r="r" b="b" t="t" l="l"/>
                <a:pathLst>
                  <a:path h="705477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630352"/>
                    </a:lnTo>
                    <a:cubicBezTo>
                      <a:pt x="1052050" y="650276"/>
                      <a:pt x="1044135" y="669384"/>
                      <a:pt x="1030047" y="683473"/>
                    </a:cubicBezTo>
                    <a:cubicBezTo>
                      <a:pt x="1015958" y="697562"/>
                      <a:pt x="996850" y="705477"/>
                      <a:pt x="976926" y="705477"/>
                    </a:cubicBezTo>
                    <a:lnTo>
                      <a:pt x="75125" y="705477"/>
                    </a:lnTo>
                    <a:cubicBezTo>
                      <a:pt x="55200" y="705477"/>
                      <a:pt x="36092" y="697562"/>
                      <a:pt x="22003" y="683473"/>
                    </a:cubicBezTo>
                    <a:cubicBezTo>
                      <a:pt x="7915" y="669384"/>
                      <a:pt x="0" y="650276"/>
                      <a:pt x="0" y="630352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0"/>
                <a:ext cx="1052050" cy="800727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129009" y="796274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6"/>
                  </a:lnTo>
                  <a:lnTo>
                    <a:pt x="0" y="3646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2043897" y="650367"/>
              <a:ext cx="3596826" cy="35968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765002" y="1238055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827634" y="662924"/>
              <a:ext cx="11447355" cy="112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7"/>
                </a:lnSpc>
                <a:spcBef>
                  <a:spcPct val="0"/>
                </a:spcBef>
              </a:pPr>
              <a:r>
                <a:rPr lang="en-US" b="true" sz="49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Thinks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779599" y="2226832"/>
              <a:ext cx="11182606" cy="9458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"If I miss fluid buildup today, this patient risks severe pneumonia by tomorrow."</a:t>
              </a:r>
            </a:p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"I am forced to rely on auditory guesswork instead of objective medical data.</a:t>
              </a:r>
            </a:p>
            <a:p>
              <a:pPr algn="l">
                <a:lnSpc>
                  <a:spcPts val="62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2640967" y="3835651"/>
            <a:ext cx="3486065" cy="3531005"/>
          </a:xfrm>
          <a:custGeom>
            <a:avLst/>
            <a:gdLst/>
            <a:ahLst/>
            <a:cxnLst/>
            <a:rect r="r" b="b" t="t" l="l"/>
            <a:pathLst>
              <a:path h="3531005" w="3486065">
                <a:moveTo>
                  <a:pt x="0" y="0"/>
                </a:moveTo>
                <a:lnTo>
                  <a:pt x="3486066" y="0"/>
                </a:lnTo>
                <a:lnTo>
                  <a:pt x="3486066" y="3531005"/>
                </a:lnTo>
                <a:lnTo>
                  <a:pt x="0" y="353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73852" y="7681924"/>
            <a:ext cx="12220296" cy="431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7"/>
              </a:lnSpc>
            </a:pPr>
            <a:r>
              <a:rPr lang="en-US" sz="12162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Empathy Map</a:t>
            </a:r>
          </a:p>
          <a:p>
            <a:pPr algn="ctr">
              <a:lnSpc>
                <a:spcPts val="17027"/>
              </a:lnSpc>
              <a:spcBef>
                <a:spcPct val="0"/>
              </a:spcBef>
            </a:pPr>
            <a:r>
              <a:rPr lang="en-US" b="true" sz="12162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(Dr.)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52809" y="6810631"/>
            <a:ext cx="13706242" cy="8528060"/>
            <a:chOff x="0" y="0"/>
            <a:chExt cx="18274989" cy="1137074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8274989" cy="11370747"/>
              <a:chOff x="0" y="0"/>
              <a:chExt cx="1052050" cy="65458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52050" cy="654589"/>
              </a:xfrm>
              <a:custGeom>
                <a:avLst/>
                <a:gdLst/>
                <a:ahLst/>
                <a:cxnLst/>
                <a:rect r="r" b="b" t="t" l="l"/>
                <a:pathLst>
                  <a:path h="654589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579464"/>
                    </a:lnTo>
                    <a:cubicBezTo>
                      <a:pt x="1052050" y="599388"/>
                      <a:pt x="1044135" y="618496"/>
                      <a:pt x="1030047" y="632585"/>
                    </a:cubicBezTo>
                    <a:cubicBezTo>
                      <a:pt x="1015958" y="646674"/>
                      <a:pt x="996850" y="654589"/>
                      <a:pt x="976926" y="654589"/>
                    </a:cubicBezTo>
                    <a:lnTo>
                      <a:pt x="75125" y="654589"/>
                    </a:lnTo>
                    <a:cubicBezTo>
                      <a:pt x="55200" y="654589"/>
                      <a:pt x="36092" y="646674"/>
                      <a:pt x="22003" y="632585"/>
                    </a:cubicBezTo>
                    <a:cubicBezTo>
                      <a:pt x="7915" y="618496"/>
                      <a:pt x="0" y="599388"/>
                      <a:pt x="0" y="57946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0"/>
                <a:ext cx="1052050" cy="749839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129009" y="481863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2043897" y="335956"/>
              <a:ext cx="3596826" cy="35968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765002" y="923645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6827634" y="310413"/>
              <a:ext cx="11447355" cy="1389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27"/>
                </a:lnSpc>
                <a:spcBef>
                  <a:spcPct val="0"/>
                </a:spcBef>
              </a:pPr>
              <a:r>
                <a:rPr lang="en-US" b="true" sz="60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Says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779599" y="1912422"/>
              <a:ext cx="11182606" cy="945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8" indent="-485774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"I need diagnostic certainty, not subjective acoustic noise from an analog tube."</a:t>
              </a:r>
            </a:p>
            <a:p>
              <a:pPr algn="l" marL="971548" indent="-485774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"A ₹40,000 digital stethoscope is completely out of my clinic's budget."</a:t>
              </a:r>
            </a:p>
            <a:p>
              <a:pPr algn="l">
                <a:lnSpc>
                  <a:spcPts val="62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05930" y="17178070"/>
            <a:ext cx="14149857" cy="7911862"/>
            <a:chOff x="0" y="0"/>
            <a:chExt cx="18866476" cy="1054914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8866476" cy="10549149"/>
              <a:chOff x="0" y="0"/>
              <a:chExt cx="1086101" cy="60729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86101" cy="607291"/>
              </a:xfrm>
              <a:custGeom>
                <a:avLst/>
                <a:gdLst/>
                <a:ahLst/>
                <a:cxnLst/>
                <a:rect r="r" b="b" t="t" l="l"/>
                <a:pathLst>
                  <a:path h="607291" w="1086101">
                    <a:moveTo>
                      <a:pt x="72769" y="0"/>
                    </a:moveTo>
                    <a:lnTo>
                      <a:pt x="1013332" y="0"/>
                    </a:lnTo>
                    <a:cubicBezTo>
                      <a:pt x="1032631" y="0"/>
                      <a:pt x="1051140" y="7667"/>
                      <a:pt x="1064787" y="21314"/>
                    </a:cubicBezTo>
                    <a:cubicBezTo>
                      <a:pt x="1078434" y="34961"/>
                      <a:pt x="1086101" y="53470"/>
                      <a:pt x="1086101" y="72769"/>
                    </a:cubicBezTo>
                    <a:lnTo>
                      <a:pt x="1086101" y="534522"/>
                    </a:lnTo>
                    <a:cubicBezTo>
                      <a:pt x="1086101" y="553821"/>
                      <a:pt x="1078434" y="572330"/>
                      <a:pt x="1064787" y="585977"/>
                    </a:cubicBezTo>
                    <a:cubicBezTo>
                      <a:pt x="1051140" y="599624"/>
                      <a:pt x="1032631" y="607291"/>
                      <a:pt x="1013332" y="607291"/>
                    </a:cubicBezTo>
                    <a:lnTo>
                      <a:pt x="72769" y="607291"/>
                    </a:lnTo>
                    <a:cubicBezTo>
                      <a:pt x="53470" y="607291"/>
                      <a:pt x="34961" y="599624"/>
                      <a:pt x="21314" y="585977"/>
                    </a:cubicBezTo>
                    <a:cubicBezTo>
                      <a:pt x="7667" y="572330"/>
                      <a:pt x="0" y="553821"/>
                      <a:pt x="0" y="534522"/>
                    </a:cubicBezTo>
                    <a:lnTo>
                      <a:pt x="0" y="72769"/>
                    </a:lnTo>
                    <a:cubicBezTo>
                      <a:pt x="0" y="53470"/>
                      <a:pt x="7667" y="34961"/>
                      <a:pt x="21314" y="21314"/>
                    </a:cubicBezTo>
                    <a:cubicBezTo>
                      <a:pt x="34961" y="7667"/>
                      <a:pt x="53470" y="0"/>
                      <a:pt x="72769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95250"/>
                <a:ext cx="1086101" cy="702541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2129009" y="1267889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2043897" y="1121982"/>
              <a:ext cx="3596826" cy="359682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3210933" y="2280879"/>
              <a:ext cx="1262754" cy="1279033"/>
            </a:xfrm>
            <a:custGeom>
              <a:avLst/>
              <a:gdLst/>
              <a:ahLst/>
              <a:cxnLst/>
              <a:rect r="r" b="b" t="t" l="l"/>
              <a:pathLst>
                <a:path h="1279033" w="1262754">
                  <a:moveTo>
                    <a:pt x="0" y="0"/>
                  </a:moveTo>
                  <a:lnTo>
                    <a:pt x="1262754" y="0"/>
                  </a:lnTo>
                  <a:lnTo>
                    <a:pt x="1262754" y="1279033"/>
                  </a:lnTo>
                  <a:lnTo>
                    <a:pt x="0" y="127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5779599" y="988632"/>
              <a:ext cx="11252816" cy="1122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8"/>
                </a:lnSpc>
                <a:spcBef>
                  <a:spcPct val="0"/>
                </a:spcBef>
              </a:pPr>
              <a:r>
                <a:rPr lang="en-US" b="true" sz="49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Does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779599" y="2157054"/>
              <a:ext cx="13086877" cy="7350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Prescribes broad-spectrum antibiotics preemptively to cover diagnostic blind spots.</a:t>
              </a:r>
            </a:p>
            <a:p>
              <a:pPr algn="l" marL="971547" indent="-485773" lvl="1">
                <a:lnSpc>
                  <a:spcPts val="62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Delay</a:t>
              </a: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 critical hospital refe</a:t>
              </a: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rrals</a:t>
              </a: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until physical symptoms become severe.</a:t>
              </a:r>
            </a:p>
            <a:p>
              <a:pPr algn="l">
                <a:lnSpc>
                  <a:spcPts val="62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5493823" y="17178825"/>
            <a:ext cx="13863017" cy="7807264"/>
            <a:chOff x="0" y="0"/>
            <a:chExt cx="18484023" cy="10409686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8484023" cy="10409686"/>
              <a:chOff x="0" y="0"/>
              <a:chExt cx="1059641" cy="59676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59641" cy="596760"/>
              </a:xfrm>
              <a:custGeom>
                <a:avLst/>
                <a:gdLst/>
                <a:ahLst/>
                <a:cxnLst/>
                <a:rect r="r" b="b" t="t" l="l"/>
                <a:pathLst>
                  <a:path h="596760" w="1059641">
                    <a:moveTo>
                      <a:pt x="74586" y="0"/>
                    </a:moveTo>
                    <a:lnTo>
                      <a:pt x="985055" y="0"/>
                    </a:lnTo>
                    <a:cubicBezTo>
                      <a:pt x="1004836" y="0"/>
                      <a:pt x="1023807" y="7858"/>
                      <a:pt x="1037795" y="21846"/>
                    </a:cubicBezTo>
                    <a:cubicBezTo>
                      <a:pt x="1051783" y="35834"/>
                      <a:pt x="1059641" y="54805"/>
                      <a:pt x="1059641" y="74586"/>
                    </a:cubicBezTo>
                    <a:lnTo>
                      <a:pt x="1059641" y="522174"/>
                    </a:lnTo>
                    <a:cubicBezTo>
                      <a:pt x="1059641" y="563367"/>
                      <a:pt x="1026247" y="596760"/>
                      <a:pt x="985055" y="596760"/>
                    </a:cubicBezTo>
                    <a:lnTo>
                      <a:pt x="74586" y="596760"/>
                    </a:lnTo>
                    <a:cubicBezTo>
                      <a:pt x="54805" y="596760"/>
                      <a:pt x="35834" y="588902"/>
                      <a:pt x="21846" y="574914"/>
                    </a:cubicBezTo>
                    <a:cubicBezTo>
                      <a:pt x="7858" y="560927"/>
                      <a:pt x="0" y="541955"/>
                      <a:pt x="0" y="522174"/>
                    </a:cubicBezTo>
                    <a:lnTo>
                      <a:pt x="0" y="74586"/>
                    </a:lnTo>
                    <a:cubicBezTo>
                      <a:pt x="0" y="54805"/>
                      <a:pt x="7858" y="35834"/>
                      <a:pt x="21846" y="21846"/>
                    </a:cubicBezTo>
                    <a:cubicBezTo>
                      <a:pt x="35834" y="7858"/>
                      <a:pt x="54805" y="0"/>
                      <a:pt x="74586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0"/>
                <a:ext cx="1059641" cy="69201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52" id="52"/>
            <p:cNvSpPr/>
            <p:nvPr/>
          </p:nvSpPr>
          <p:spPr>
            <a:xfrm flipH="false" flipV="false" rot="0">
              <a:off x="2137936" y="1380645"/>
              <a:ext cx="3665897" cy="3661314"/>
            </a:xfrm>
            <a:custGeom>
              <a:avLst/>
              <a:gdLst/>
              <a:ahLst/>
              <a:cxnLst/>
              <a:rect r="r" b="b" t="t" l="l"/>
              <a:pathLst>
                <a:path h="3661314" w="3665897">
                  <a:moveTo>
                    <a:pt x="0" y="0"/>
                  </a:moveTo>
                  <a:lnTo>
                    <a:pt x="3665897" y="0"/>
                  </a:lnTo>
                  <a:lnTo>
                    <a:pt x="3665897" y="3661315"/>
                  </a:lnTo>
                  <a:lnTo>
                    <a:pt x="0" y="3661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3" id="53"/>
            <p:cNvGrpSpPr/>
            <p:nvPr/>
          </p:nvGrpSpPr>
          <p:grpSpPr>
            <a:xfrm rot="0">
              <a:off x="2052467" y="1234127"/>
              <a:ext cx="3611908" cy="3611908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3224396" y="2397883"/>
              <a:ext cx="1268049" cy="1284396"/>
            </a:xfrm>
            <a:custGeom>
              <a:avLst/>
              <a:gdLst/>
              <a:ahLst/>
              <a:cxnLst/>
              <a:rect r="r" b="b" t="t" l="l"/>
              <a:pathLst>
                <a:path h="1284396" w="1268049">
                  <a:moveTo>
                    <a:pt x="0" y="0"/>
                  </a:moveTo>
                  <a:lnTo>
                    <a:pt x="1268049" y="0"/>
                  </a:lnTo>
                  <a:lnTo>
                    <a:pt x="1268049" y="1284395"/>
                  </a:lnTo>
                  <a:lnTo>
                    <a:pt x="0" y="1284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 rot="0">
              <a:off x="5803833" y="1091252"/>
              <a:ext cx="11299998" cy="1136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16"/>
                </a:lnSpc>
                <a:spcBef>
                  <a:spcPct val="0"/>
                </a:spcBef>
              </a:pPr>
              <a:r>
                <a:rPr lang="en-US" b="true" sz="494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Feels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5664374" y="2274058"/>
              <a:ext cx="11439456" cy="6372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50" indent="-485775" lvl="1">
                <a:lnSpc>
                  <a:spcPts val="6299"/>
                </a:lnSpc>
                <a:buFont typeface="Arial"/>
                <a:buChar char="•"/>
              </a:pPr>
              <a:r>
                <a:rPr lang="en-US" sz="4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Paralyzed by the clinical liability of a misdiagnosis.</a:t>
              </a:r>
            </a:p>
            <a:p>
              <a:pPr algn="l" marL="971550" indent="-485775" lvl="1">
                <a:lnSpc>
                  <a:spcPts val="62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Hand</a:t>
              </a:r>
              <a:r>
                <a:rPr lang="en-US" sz="4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icapped by primitive tools in a high-stakes environment.</a:t>
              </a:r>
            </a:p>
            <a:p>
              <a:pPr algn="l">
                <a:lnSpc>
                  <a:spcPts val="62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05930" y="-17178070"/>
            <a:ext cx="34356141" cy="343561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30717" y="-13361714"/>
            <a:ext cx="29517673" cy="29480776"/>
          </a:xfrm>
          <a:custGeom>
            <a:avLst/>
            <a:gdLst/>
            <a:ahLst/>
            <a:cxnLst/>
            <a:rect r="r" b="b" t="t" l="l"/>
            <a:pathLst>
              <a:path h="29480776" w="29517673">
                <a:moveTo>
                  <a:pt x="0" y="0"/>
                </a:moveTo>
                <a:lnTo>
                  <a:pt x="29517674" y="0"/>
                </a:lnTo>
                <a:lnTo>
                  <a:pt x="29517674" y="29480776"/>
                </a:lnTo>
                <a:lnTo>
                  <a:pt x="0" y="29480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2522" y="-14541478"/>
            <a:ext cx="29082956" cy="290829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015767" y="5219276"/>
            <a:ext cx="13706242" cy="11135593"/>
            <a:chOff x="0" y="0"/>
            <a:chExt cx="18274989" cy="1484745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274989" cy="14847458"/>
              <a:chOff x="0" y="0"/>
              <a:chExt cx="1052050" cy="85473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52050" cy="854735"/>
              </a:xfrm>
              <a:custGeom>
                <a:avLst/>
                <a:gdLst/>
                <a:ahLst/>
                <a:cxnLst/>
                <a:rect r="r" b="b" t="t" l="l"/>
                <a:pathLst>
                  <a:path h="854735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779611"/>
                    </a:lnTo>
                    <a:cubicBezTo>
                      <a:pt x="1052050" y="799535"/>
                      <a:pt x="1044135" y="818643"/>
                      <a:pt x="1030047" y="832732"/>
                    </a:cubicBezTo>
                    <a:cubicBezTo>
                      <a:pt x="1015958" y="846820"/>
                      <a:pt x="996850" y="854735"/>
                      <a:pt x="976926" y="854735"/>
                    </a:cubicBezTo>
                    <a:lnTo>
                      <a:pt x="75125" y="854735"/>
                    </a:lnTo>
                    <a:cubicBezTo>
                      <a:pt x="55200" y="854735"/>
                      <a:pt x="36092" y="846820"/>
                      <a:pt x="22003" y="832732"/>
                    </a:cubicBezTo>
                    <a:cubicBezTo>
                      <a:pt x="7915" y="818643"/>
                      <a:pt x="0" y="799535"/>
                      <a:pt x="0" y="779611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0"/>
                <a:ext cx="1052050" cy="949985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129009" y="796274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6"/>
                  </a:lnTo>
                  <a:lnTo>
                    <a:pt x="0" y="3646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2043897" y="650367"/>
              <a:ext cx="3596826" cy="35968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765002" y="1238055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827634" y="662924"/>
              <a:ext cx="11447355" cy="112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7"/>
                </a:lnSpc>
                <a:spcBef>
                  <a:spcPct val="0"/>
                </a:spcBef>
              </a:pPr>
              <a:r>
                <a:rPr lang="en-US" b="true" sz="49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Thinks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779599" y="2226832"/>
              <a:ext cx="11182606" cy="12620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"Is this just a seasonal cold, or something that will hospitalize me and bankrupt my family?"</a:t>
              </a:r>
            </a:p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"Did the local doctor actually hear what is wrong, or is he just guessing?"</a:t>
              </a:r>
            </a:p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"If I wait a few more days, maybe it will just go away on its own."</a:t>
              </a:r>
            </a:p>
            <a:p>
              <a:pPr algn="l">
                <a:lnSpc>
                  <a:spcPts val="62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2640967" y="3835651"/>
            <a:ext cx="3486065" cy="3531005"/>
          </a:xfrm>
          <a:custGeom>
            <a:avLst/>
            <a:gdLst/>
            <a:ahLst/>
            <a:cxnLst/>
            <a:rect r="r" b="b" t="t" l="l"/>
            <a:pathLst>
              <a:path h="3531005" w="3486065">
                <a:moveTo>
                  <a:pt x="0" y="0"/>
                </a:moveTo>
                <a:lnTo>
                  <a:pt x="3486066" y="0"/>
                </a:lnTo>
                <a:lnTo>
                  <a:pt x="3486066" y="3531005"/>
                </a:lnTo>
                <a:lnTo>
                  <a:pt x="0" y="353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73852" y="7681924"/>
            <a:ext cx="12220296" cy="431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7"/>
              </a:lnSpc>
            </a:pPr>
            <a:r>
              <a:rPr lang="en-US" sz="12162" b="true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Empathy Map</a:t>
            </a:r>
          </a:p>
          <a:p>
            <a:pPr algn="ctr">
              <a:lnSpc>
                <a:spcPts val="17027"/>
              </a:lnSpc>
              <a:spcBef>
                <a:spcPct val="0"/>
              </a:spcBef>
            </a:pPr>
            <a:r>
              <a:rPr lang="en-US" b="true" sz="12162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(Patient)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52809" y="5219276"/>
            <a:ext cx="13706242" cy="10899786"/>
            <a:chOff x="0" y="0"/>
            <a:chExt cx="18274989" cy="1453304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8274989" cy="14533048"/>
              <a:chOff x="0" y="0"/>
              <a:chExt cx="1052050" cy="83663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52050" cy="836635"/>
              </a:xfrm>
              <a:custGeom>
                <a:avLst/>
                <a:gdLst/>
                <a:ahLst/>
                <a:cxnLst/>
                <a:rect r="r" b="b" t="t" l="l"/>
                <a:pathLst>
                  <a:path h="836635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761510"/>
                    </a:lnTo>
                    <a:cubicBezTo>
                      <a:pt x="1052050" y="781435"/>
                      <a:pt x="1044135" y="800543"/>
                      <a:pt x="1030047" y="814632"/>
                    </a:cubicBezTo>
                    <a:cubicBezTo>
                      <a:pt x="1015958" y="828720"/>
                      <a:pt x="996850" y="836635"/>
                      <a:pt x="976926" y="836635"/>
                    </a:cubicBezTo>
                    <a:lnTo>
                      <a:pt x="75125" y="836635"/>
                    </a:lnTo>
                    <a:cubicBezTo>
                      <a:pt x="55200" y="836635"/>
                      <a:pt x="36092" y="828720"/>
                      <a:pt x="22003" y="814632"/>
                    </a:cubicBezTo>
                    <a:cubicBezTo>
                      <a:pt x="7915" y="800543"/>
                      <a:pt x="0" y="781435"/>
                      <a:pt x="0" y="761510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0"/>
                <a:ext cx="1052050" cy="931885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129009" y="481863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2043897" y="335956"/>
              <a:ext cx="3596826" cy="35968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4D4D4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765002" y="923645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6827634" y="348513"/>
              <a:ext cx="11447355" cy="1122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7"/>
                </a:lnSpc>
                <a:spcBef>
                  <a:spcPct val="0"/>
                </a:spcBef>
              </a:pPr>
              <a:r>
                <a:rPr lang="en-US" b="true" sz="49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Says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779599" y="1912422"/>
              <a:ext cx="11182606" cy="12620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"I cannot afford to lose a day's wage traveling 50km to the district hospital for a simple cough."</a:t>
              </a:r>
            </a:p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"The local doctor gave me syrup, but my child is still struggling to breathe."</a:t>
              </a:r>
            </a:p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"I don't have the money for expensive city tests right now."</a:t>
              </a:r>
            </a:p>
            <a:p>
              <a:pPr algn="l">
                <a:lnSpc>
                  <a:spcPts val="62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929396" y="16895902"/>
            <a:ext cx="17204058" cy="9502110"/>
            <a:chOff x="0" y="0"/>
            <a:chExt cx="22938744" cy="1266948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2938744" cy="12669480"/>
              <a:chOff x="0" y="0"/>
              <a:chExt cx="1320532" cy="72935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20532" cy="729354"/>
              </a:xfrm>
              <a:custGeom>
                <a:avLst/>
                <a:gdLst/>
                <a:ahLst/>
                <a:cxnLst/>
                <a:rect r="r" b="b" t="t" l="l"/>
                <a:pathLst>
                  <a:path h="729354" w="1320532">
                    <a:moveTo>
                      <a:pt x="59851" y="0"/>
                    </a:moveTo>
                    <a:lnTo>
                      <a:pt x="1260682" y="0"/>
                    </a:lnTo>
                    <a:cubicBezTo>
                      <a:pt x="1293736" y="0"/>
                      <a:pt x="1320532" y="26796"/>
                      <a:pt x="1320532" y="59851"/>
                    </a:cubicBezTo>
                    <a:lnTo>
                      <a:pt x="1320532" y="669503"/>
                    </a:lnTo>
                    <a:cubicBezTo>
                      <a:pt x="1320532" y="702558"/>
                      <a:pt x="1293736" y="729354"/>
                      <a:pt x="1260682" y="729354"/>
                    </a:cubicBezTo>
                    <a:lnTo>
                      <a:pt x="59851" y="729354"/>
                    </a:lnTo>
                    <a:cubicBezTo>
                      <a:pt x="26796" y="729354"/>
                      <a:pt x="0" y="702558"/>
                      <a:pt x="0" y="669503"/>
                    </a:cubicBezTo>
                    <a:lnTo>
                      <a:pt x="0" y="59851"/>
                    </a:lnTo>
                    <a:cubicBezTo>
                      <a:pt x="0" y="26796"/>
                      <a:pt x="26796" y="0"/>
                      <a:pt x="59851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95250"/>
                <a:ext cx="1320532" cy="824604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2129009" y="1267889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2043897" y="1121982"/>
              <a:ext cx="3596826" cy="359682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3210933" y="2280879"/>
              <a:ext cx="1262754" cy="1279033"/>
            </a:xfrm>
            <a:custGeom>
              <a:avLst/>
              <a:gdLst/>
              <a:ahLst/>
              <a:cxnLst/>
              <a:rect r="r" b="b" t="t" l="l"/>
              <a:pathLst>
                <a:path h="1279033" w="1262754">
                  <a:moveTo>
                    <a:pt x="0" y="0"/>
                  </a:moveTo>
                  <a:lnTo>
                    <a:pt x="1262754" y="0"/>
                  </a:lnTo>
                  <a:lnTo>
                    <a:pt x="1262754" y="1279033"/>
                  </a:lnTo>
                  <a:lnTo>
                    <a:pt x="0" y="127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5779599" y="988632"/>
              <a:ext cx="11252816" cy="1122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8"/>
                </a:lnSpc>
                <a:spcBef>
                  <a:spcPct val="0"/>
                </a:spcBef>
              </a:pPr>
              <a:r>
                <a:rPr lang="en-US" b="true" sz="49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Does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779599" y="2157054"/>
              <a:ext cx="16335784" cy="10512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Ignores early-stage symptoms due to the logistical and financial friction of travel.</a:t>
              </a:r>
            </a:p>
            <a:p>
              <a:pPr algn="l" marL="971547" indent="-485773" lvl="1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Spen</a:t>
              </a: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ds out-of-pocket money on generic, ineffective medications that mask the real disease.</a:t>
              </a:r>
            </a:p>
            <a:p>
              <a:pPr algn="l" marL="971547" indent="-485773" lvl="1">
                <a:lnSpc>
                  <a:spcPts val="62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Arrives</a:t>
              </a:r>
              <a:r>
                <a:rPr lang="en-US" sz="4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at the emergency room only when the respiratory condition is critical and life-threatening.</a:t>
              </a:r>
            </a:p>
            <a:p>
              <a:pPr algn="l">
                <a:lnSpc>
                  <a:spcPts val="62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5493823" y="16785812"/>
            <a:ext cx="15375065" cy="9395885"/>
            <a:chOff x="0" y="0"/>
            <a:chExt cx="20500086" cy="12527847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20500086" cy="12527847"/>
              <a:chOff x="0" y="0"/>
              <a:chExt cx="1175217" cy="71818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175217" cy="718189"/>
              </a:xfrm>
              <a:custGeom>
                <a:avLst/>
                <a:gdLst/>
                <a:ahLst/>
                <a:cxnLst/>
                <a:rect r="r" b="b" t="t" l="l"/>
                <a:pathLst>
                  <a:path h="718189" w="1175217">
                    <a:moveTo>
                      <a:pt x="67251" y="0"/>
                    </a:moveTo>
                    <a:lnTo>
                      <a:pt x="1107965" y="0"/>
                    </a:lnTo>
                    <a:cubicBezTo>
                      <a:pt x="1145107" y="0"/>
                      <a:pt x="1175217" y="30109"/>
                      <a:pt x="1175217" y="67251"/>
                    </a:cubicBezTo>
                    <a:lnTo>
                      <a:pt x="1175217" y="650938"/>
                    </a:lnTo>
                    <a:cubicBezTo>
                      <a:pt x="1175217" y="668774"/>
                      <a:pt x="1168131" y="685879"/>
                      <a:pt x="1155519" y="698491"/>
                    </a:cubicBezTo>
                    <a:cubicBezTo>
                      <a:pt x="1142907" y="711103"/>
                      <a:pt x="1125802" y="718189"/>
                      <a:pt x="1107965" y="718189"/>
                    </a:cubicBezTo>
                    <a:lnTo>
                      <a:pt x="67251" y="718189"/>
                    </a:lnTo>
                    <a:cubicBezTo>
                      <a:pt x="49415" y="718189"/>
                      <a:pt x="32310" y="711103"/>
                      <a:pt x="19697" y="698491"/>
                    </a:cubicBezTo>
                    <a:cubicBezTo>
                      <a:pt x="7085" y="685879"/>
                      <a:pt x="0" y="668774"/>
                      <a:pt x="0" y="650938"/>
                    </a:cubicBezTo>
                    <a:lnTo>
                      <a:pt x="0" y="67251"/>
                    </a:lnTo>
                    <a:cubicBezTo>
                      <a:pt x="0" y="49415"/>
                      <a:pt x="7085" y="32310"/>
                      <a:pt x="19697" y="19697"/>
                    </a:cubicBezTo>
                    <a:cubicBezTo>
                      <a:pt x="32310" y="7085"/>
                      <a:pt x="49415" y="0"/>
                      <a:pt x="67251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0"/>
                <a:ext cx="1175217" cy="813439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52" id="52"/>
            <p:cNvSpPr/>
            <p:nvPr/>
          </p:nvSpPr>
          <p:spPr>
            <a:xfrm flipH="false" flipV="false" rot="0">
              <a:off x="2137936" y="1904663"/>
              <a:ext cx="3665897" cy="3661314"/>
            </a:xfrm>
            <a:custGeom>
              <a:avLst/>
              <a:gdLst/>
              <a:ahLst/>
              <a:cxnLst/>
              <a:rect r="r" b="b" t="t" l="l"/>
              <a:pathLst>
                <a:path h="3661314" w="3665897">
                  <a:moveTo>
                    <a:pt x="0" y="0"/>
                  </a:moveTo>
                  <a:lnTo>
                    <a:pt x="3665897" y="0"/>
                  </a:lnTo>
                  <a:lnTo>
                    <a:pt x="3665897" y="3661314"/>
                  </a:lnTo>
                  <a:lnTo>
                    <a:pt x="0" y="3661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3" id="53"/>
            <p:cNvGrpSpPr/>
            <p:nvPr/>
          </p:nvGrpSpPr>
          <p:grpSpPr>
            <a:xfrm rot="0">
              <a:off x="2052467" y="1758144"/>
              <a:ext cx="3611908" cy="3611908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3224396" y="2921900"/>
              <a:ext cx="1268049" cy="1284396"/>
            </a:xfrm>
            <a:custGeom>
              <a:avLst/>
              <a:gdLst/>
              <a:ahLst/>
              <a:cxnLst/>
              <a:rect r="r" b="b" t="t" l="l"/>
              <a:pathLst>
                <a:path h="1284396" w="1268049">
                  <a:moveTo>
                    <a:pt x="0" y="0"/>
                  </a:moveTo>
                  <a:lnTo>
                    <a:pt x="1268049" y="0"/>
                  </a:lnTo>
                  <a:lnTo>
                    <a:pt x="1268049" y="1284396"/>
                  </a:lnTo>
                  <a:lnTo>
                    <a:pt x="0" y="1284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 rot="0">
              <a:off x="5803833" y="1615269"/>
              <a:ext cx="11299998" cy="1136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16"/>
                </a:lnSpc>
                <a:spcBef>
                  <a:spcPct val="0"/>
                </a:spcBef>
              </a:pPr>
              <a:r>
                <a:rPr lang="en-US" b="true" sz="494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Feels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5664374" y="2788550"/>
              <a:ext cx="13867683" cy="9581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5169" indent="-487585" lvl="1">
                <a:lnSpc>
                  <a:spcPts val="6323"/>
                </a:lnSpc>
                <a:buFont typeface="Arial"/>
                <a:buChar char="•"/>
              </a:pPr>
              <a:r>
                <a:rPr lang="en-US" sz="451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Financially anxious about the hidden costs of healthcare and travel.</a:t>
              </a:r>
            </a:p>
            <a:p>
              <a:pPr algn="l" marL="975169" indent="-487585" lvl="1">
                <a:lnSpc>
                  <a:spcPts val="6323"/>
                </a:lnSpc>
                <a:buFont typeface="Arial"/>
                <a:buChar char="•"/>
              </a:pPr>
              <a:r>
                <a:rPr lang="en-US" sz="451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Vulnerable to misdiagnosis at the local level.</a:t>
              </a:r>
            </a:p>
            <a:p>
              <a:pPr algn="l" marL="975169" indent="-487585" lvl="1">
                <a:lnSpc>
                  <a:spcPts val="632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451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Terrified when their child’s symptoms do not improve after basic treatment.</a:t>
              </a:r>
            </a:p>
            <a:p>
              <a:pPr algn="l">
                <a:lnSpc>
                  <a:spcPts val="632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29879" y="-17091161"/>
            <a:ext cx="36394710" cy="36394710"/>
            <a:chOff x="0" y="0"/>
            <a:chExt cx="48526280" cy="485262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8526280" cy="4852628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4696092" y="5390406"/>
              <a:ext cx="41692194" cy="41640078"/>
            </a:xfrm>
            <a:custGeom>
              <a:avLst/>
              <a:gdLst/>
              <a:ahLst/>
              <a:cxnLst/>
              <a:rect r="r" b="b" t="t" l="l"/>
              <a:pathLst>
                <a:path h="41640078" w="41692194">
                  <a:moveTo>
                    <a:pt x="0" y="0"/>
                  </a:moveTo>
                  <a:lnTo>
                    <a:pt x="41692193" y="0"/>
                  </a:lnTo>
                  <a:lnTo>
                    <a:pt x="41692193" y="41640079"/>
                  </a:lnTo>
                  <a:lnTo>
                    <a:pt x="0" y="4164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3724051" y="3724051"/>
              <a:ext cx="41078177" cy="4107817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3527112" y="3389940"/>
            <a:ext cx="21713777" cy="24042060"/>
          </a:xfrm>
          <a:custGeom>
            <a:avLst/>
            <a:gdLst/>
            <a:ahLst/>
            <a:cxnLst/>
            <a:rect r="r" b="b" t="t" l="l"/>
            <a:pathLst>
              <a:path h="24042060" w="21713777">
                <a:moveTo>
                  <a:pt x="0" y="0"/>
                </a:moveTo>
                <a:lnTo>
                  <a:pt x="21713776" y="0"/>
                </a:lnTo>
                <a:lnTo>
                  <a:pt x="21713776" y="24042060"/>
                </a:lnTo>
                <a:lnTo>
                  <a:pt x="0" y="24042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-685800"/>
            <a:ext cx="48768000" cy="435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2"/>
              </a:lnSpc>
              <a:spcBef>
                <a:spcPct val="0"/>
              </a:spcBef>
            </a:pPr>
            <a:r>
              <a:rPr lang="en-US" b="true" sz="2410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5W1H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29879" y="-17091161"/>
            <a:ext cx="36394710" cy="36394710"/>
            <a:chOff x="0" y="0"/>
            <a:chExt cx="48526280" cy="485262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8526280" cy="4852628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4696092" y="5390406"/>
              <a:ext cx="41692194" cy="41640078"/>
            </a:xfrm>
            <a:custGeom>
              <a:avLst/>
              <a:gdLst/>
              <a:ahLst/>
              <a:cxnLst/>
              <a:rect r="r" b="b" t="t" l="l"/>
              <a:pathLst>
                <a:path h="41640078" w="41692194">
                  <a:moveTo>
                    <a:pt x="0" y="0"/>
                  </a:moveTo>
                  <a:lnTo>
                    <a:pt x="41692193" y="0"/>
                  </a:lnTo>
                  <a:lnTo>
                    <a:pt x="41692193" y="41640079"/>
                  </a:lnTo>
                  <a:lnTo>
                    <a:pt x="0" y="4164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3724051" y="3724051"/>
              <a:ext cx="41078177" cy="4107817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0" y="4575474"/>
            <a:ext cx="48768000" cy="21701760"/>
          </a:xfrm>
          <a:custGeom>
            <a:avLst/>
            <a:gdLst/>
            <a:ahLst/>
            <a:cxnLst/>
            <a:rect r="r" b="b" t="t" l="l"/>
            <a:pathLst>
              <a:path h="21701760" w="48768000">
                <a:moveTo>
                  <a:pt x="0" y="0"/>
                </a:moveTo>
                <a:lnTo>
                  <a:pt x="48768000" y="0"/>
                </a:lnTo>
                <a:lnTo>
                  <a:pt x="48768000" y="21701760"/>
                </a:lnTo>
                <a:lnTo>
                  <a:pt x="0" y="21701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225126"/>
            <a:ext cx="48768000" cy="435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2"/>
              </a:lnSpc>
              <a:spcBef>
                <a:spcPct val="0"/>
              </a:spcBef>
            </a:pPr>
            <a:r>
              <a:rPr lang="en-US" b="true" sz="2410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Flow Chart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29879" y="-17091161"/>
            <a:ext cx="36394710" cy="36394710"/>
            <a:chOff x="0" y="0"/>
            <a:chExt cx="48526280" cy="485262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8526280" cy="4852628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4696092" y="5390406"/>
              <a:ext cx="41692194" cy="41640078"/>
            </a:xfrm>
            <a:custGeom>
              <a:avLst/>
              <a:gdLst/>
              <a:ahLst/>
              <a:cxnLst/>
              <a:rect r="r" b="b" t="t" l="l"/>
              <a:pathLst>
                <a:path h="41640078" w="41692194">
                  <a:moveTo>
                    <a:pt x="0" y="0"/>
                  </a:moveTo>
                  <a:lnTo>
                    <a:pt x="41692193" y="0"/>
                  </a:lnTo>
                  <a:lnTo>
                    <a:pt x="41692193" y="41640079"/>
                  </a:lnTo>
                  <a:lnTo>
                    <a:pt x="0" y="4164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3724051" y="3724051"/>
              <a:ext cx="41078177" cy="4107817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351216" y="5687943"/>
            <a:ext cx="46065567" cy="19000857"/>
          </a:xfrm>
          <a:custGeom>
            <a:avLst/>
            <a:gdLst/>
            <a:ahLst/>
            <a:cxnLst/>
            <a:rect r="r" b="b" t="t" l="l"/>
            <a:pathLst>
              <a:path h="19000857" w="46065567">
                <a:moveTo>
                  <a:pt x="0" y="0"/>
                </a:moveTo>
                <a:lnTo>
                  <a:pt x="46065568" y="0"/>
                </a:lnTo>
                <a:lnTo>
                  <a:pt x="46065568" y="19000857"/>
                </a:lnTo>
                <a:lnTo>
                  <a:pt x="0" y="190008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910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225126"/>
            <a:ext cx="48768000" cy="435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2"/>
              </a:lnSpc>
              <a:spcBef>
                <a:spcPct val="0"/>
              </a:spcBef>
            </a:pPr>
            <a:r>
              <a:rPr lang="en-US" b="true" sz="2410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 Image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11975" y="-16933956"/>
            <a:ext cx="36394710" cy="36394710"/>
            <a:chOff x="0" y="0"/>
            <a:chExt cx="48526280" cy="485262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8526280" cy="4852628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4696092" y="5390406"/>
              <a:ext cx="41692194" cy="41640078"/>
            </a:xfrm>
            <a:custGeom>
              <a:avLst/>
              <a:gdLst/>
              <a:ahLst/>
              <a:cxnLst/>
              <a:rect r="r" b="b" t="t" l="l"/>
              <a:pathLst>
                <a:path h="41640078" w="41692194">
                  <a:moveTo>
                    <a:pt x="0" y="0"/>
                  </a:moveTo>
                  <a:lnTo>
                    <a:pt x="41692193" y="0"/>
                  </a:lnTo>
                  <a:lnTo>
                    <a:pt x="41692193" y="41640079"/>
                  </a:lnTo>
                  <a:lnTo>
                    <a:pt x="0" y="4164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3724051" y="3724051"/>
              <a:ext cx="41078177" cy="4107817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48738227" y="11186773"/>
            <a:ext cx="7070561" cy="13990320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45588" t="-3203" r="-245531" b="-3098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800678" y="5654507"/>
            <a:ext cx="37017303" cy="16972891"/>
            <a:chOff x="0" y="0"/>
            <a:chExt cx="49356404" cy="22630522"/>
          </a:xfrm>
        </p:grpSpPr>
        <p:grpSp>
          <p:nvGrpSpPr>
            <p:cNvPr name="Group 21" id="21"/>
            <p:cNvGrpSpPr>
              <a:grpSpLocks noChangeAspect="true"/>
            </p:cNvGrpSpPr>
            <p:nvPr/>
          </p:nvGrpSpPr>
          <p:grpSpPr>
            <a:xfrm rot="0">
              <a:off x="0" y="0"/>
              <a:ext cx="11437228" cy="22630522"/>
              <a:chOff x="0" y="0"/>
              <a:chExt cx="2620010" cy="518414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r="r" b="b" t="t" l="l"/>
                <a:pathLst>
                  <a:path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1273" r="0" b="-1273"/>
                </a:stretch>
              </a:blip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r="r" b="b" t="t" l="l"/>
                <a:pathLst>
                  <a:path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r="r" b="b" t="t" l="l"/>
                <a:pathLst>
                  <a:path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685800"/>
                <a:ext cx="27940" cy="213360"/>
              </a:xfrm>
              <a:custGeom>
                <a:avLst/>
                <a:gdLst/>
                <a:ahLst/>
                <a:cxnLst/>
                <a:rect r="r" b="b" t="t" l="l"/>
                <a:pathLst>
                  <a:path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1057910"/>
                <a:ext cx="27940" cy="384810"/>
              </a:xfrm>
              <a:custGeom>
                <a:avLst/>
                <a:gdLst/>
                <a:ahLst/>
                <a:cxnLst/>
                <a:rect r="r" b="b" t="t" l="l"/>
                <a:pathLst>
                  <a:path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1526540"/>
                <a:ext cx="27940" cy="386080"/>
              </a:xfrm>
              <a:custGeom>
                <a:avLst/>
                <a:gdLst/>
                <a:ahLst/>
                <a:cxnLst/>
                <a:rect r="r" b="b" t="t" l="l"/>
                <a:pathLst>
                  <a:path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r="r" b="b" t="t" l="l"/>
                <a:pathLst>
                  <a:path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27940" y="0"/>
                <a:ext cx="2564130" cy="5182870"/>
              </a:xfrm>
              <a:custGeom>
                <a:avLst/>
                <a:gdLst/>
                <a:ahLst/>
                <a:cxnLst/>
                <a:rect r="r" b="b" t="t" l="l"/>
                <a:pathLst>
                  <a:path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  <p:grpSp>
          <p:nvGrpSpPr>
            <p:cNvPr name="Group 31" id="31"/>
            <p:cNvGrpSpPr>
              <a:grpSpLocks noChangeAspect="true"/>
            </p:cNvGrpSpPr>
            <p:nvPr/>
          </p:nvGrpSpPr>
          <p:grpSpPr>
            <a:xfrm rot="0">
              <a:off x="12639013" y="0"/>
              <a:ext cx="11437228" cy="22630522"/>
              <a:chOff x="0" y="0"/>
              <a:chExt cx="2620010" cy="518414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r="r" b="b" t="t" l="l"/>
                <a:pathLst>
                  <a:path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-1273" r="0" b="-1273"/>
                </a:stretch>
              </a:blipFill>
            </p:spPr>
          </p:sp>
          <p:sp>
            <p:nvSpPr>
              <p:cNvPr name="Freeform 34" id="34"/>
              <p:cNvSpPr/>
              <p:nvPr/>
            </p:nvSpPr>
            <p:spPr>
              <a:xfrm flipH="false" flipV="false" rot="0"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r="r" b="b" t="t" l="l"/>
                <a:pathLst>
                  <a:path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r="r" b="b" t="t" l="l"/>
                <a:pathLst>
                  <a:path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685800"/>
                <a:ext cx="27940" cy="213360"/>
              </a:xfrm>
              <a:custGeom>
                <a:avLst/>
                <a:gdLst/>
                <a:ahLst/>
                <a:cxnLst/>
                <a:rect r="r" b="b" t="t" l="l"/>
                <a:pathLst>
                  <a:path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1057910"/>
                <a:ext cx="27940" cy="384810"/>
              </a:xfrm>
              <a:custGeom>
                <a:avLst/>
                <a:gdLst/>
                <a:ahLst/>
                <a:cxnLst/>
                <a:rect r="r" b="b" t="t" l="l"/>
                <a:pathLst>
                  <a:path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1526540"/>
                <a:ext cx="27940" cy="386080"/>
              </a:xfrm>
              <a:custGeom>
                <a:avLst/>
                <a:gdLst/>
                <a:ahLst/>
                <a:cxnLst/>
                <a:rect r="r" b="b" t="t" l="l"/>
                <a:pathLst>
                  <a:path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r="r" b="b" t="t" l="l"/>
                <a:pathLst>
                  <a:path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 flipH="false" flipV="false" rot="0">
                <a:off x="27940" y="0"/>
                <a:ext cx="2564130" cy="5182870"/>
              </a:xfrm>
              <a:custGeom>
                <a:avLst/>
                <a:gdLst/>
                <a:ahLst/>
                <a:cxnLst/>
                <a:rect r="r" b="b" t="t" l="l"/>
                <a:pathLst>
                  <a:path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  <p:grpSp>
          <p:nvGrpSpPr>
            <p:cNvPr name="Group 41" id="41"/>
            <p:cNvGrpSpPr>
              <a:grpSpLocks noChangeAspect="true"/>
            </p:cNvGrpSpPr>
            <p:nvPr/>
          </p:nvGrpSpPr>
          <p:grpSpPr>
            <a:xfrm rot="0">
              <a:off x="25280163" y="0"/>
              <a:ext cx="11437228" cy="22630522"/>
              <a:chOff x="0" y="0"/>
              <a:chExt cx="2620010" cy="518414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r="r" b="b" t="t" l="l"/>
                <a:pathLst>
                  <a:path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1273" r="0" b="-1273"/>
                </a:stretch>
              </a:blipFill>
            </p:spPr>
          </p:sp>
          <p:sp>
            <p:nvSpPr>
              <p:cNvPr name="Freeform 44" id="44"/>
              <p:cNvSpPr/>
              <p:nvPr/>
            </p:nvSpPr>
            <p:spPr>
              <a:xfrm flipH="false" flipV="false" rot="0"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r="r" b="b" t="t" l="l"/>
                <a:pathLst>
                  <a:path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r="r" b="b" t="t" l="l"/>
                <a:pathLst>
                  <a:path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685800"/>
                <a:ext cx="27940" cy="213360"/>
              </a:xfrm>
              <a:custGeom>
                <a:avLst/>
                <a:gdLst/>
                <a:ahLst/>
                <a:cxnLst/>
                <a:rect r="r" b="b" t="t" l="l"/>
                <a:pathLst>
                  <a:path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1057910"/>
                <a:ext cx="27940" cy="384810"/>
              </a:xfrm>
              <a:custGeom>
                <a:avLst/>
                <a:gdLst/>
                <a:ahLst/>
                <a:cxnLst/>
                <a:rect r="r" b="b" t="t" l="l"/>
                <a:pathLst>
                  <a:path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1526540"/>
                <a:ext cx="27940" cy="386080"/>
              </a:xfrm>
              <a:custGeom>
                <a:avLst/>
                <a:gdLst/>
                <a:ahLst/>
                <a:cxnLst/>
                <a:rect r="r" b="b" t="t" l="l"/>
                <a:pathLst>
                  <a:path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r="r" b="b" t="t" l="l"/>
                <a:pathLst>
                  <a:path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27940" y="0"/>
                <a:ext cx="2564130" cy="5182870"/>
              </a:xfrm>
              <a:custGeom>
                <a:avLst/>
                <a:gdLst/>
                <a:ahLst/>
                <a:cxnLst/>
                <a:rect r="r" b="b" t="t" l="l"/>
                <a:pathLst>
                  <a:path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  <p:grpSp>
          <p:nvGrpSpPr>
            <p:cNvPr name="Group 51" id="51"/>
            <p:cNvGrpSpPr>
              <a:grpSpLocks noChangeAspect="true"/>
            </p:cNvGrpSpPr>
            <p:nvPr/>
          </p:nvGrpSpPr>
          <p:grpSpPr>
            <a:xfrm rot="0">
              <a:off x="37919175" y="0"/>
              <a:ext cx="11437228" cy="22630522"/>
              <a:chOff x="0" y="0"/>
              <a:chExt cx="2620010" cy="518414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r="r" b="b" t="t" l="l"/>
                <a:pathLst>
                  <a:path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1273" r="0" b="-1273"/>
                </a:stretch>
              </a:blip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r="r" b="b" t="t" l="l"/>
                <a:pathLst>
                  <a:path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55" id="55"/>
              <p:cNvSpPr/>
              <p:nvPr/>
            </p:nvSpPr>
            <p:spPr>
              <a:xfrm flipH="false" flipV="false" rot="0"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r="r" b="b" t="t" l="l"/>
                <a:pathLst>
                  <a:path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685800"/>
                <a:ext cx="27940" cy="213360"/>
              </a:xfrm>
              <a:custGeom>
                <a:avLst/>
                <a:gdLst/>
                <a:ahLst/>
                <a:cxnLst/>
                <a:rect r="r" b="b" t="t" l="l"/>
                <a:pathLst>
                  <a:path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1057910"/>
                <a:ext cx="27940" cy="384810"/>
              </a:xfrm>
              <a:custGeom>
                <a:avLst/>
                <a:gdLst/>
                <a:ahLst/>
                <a:cxnLst/>
                <a:rect r="r" b="b" t="t" l="l"/>
                <a:pathLst>
                  <a:path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1526540"/>
                <a:ext cx="27940" cy="386080"/>
              </a:xfrm>
              <a:custGeom>
                <a:avLst/>
                <a:gdLst/>
                <a:ahLst/>
                <a:cxnLst/>
                <a:rect r="r" b="b" t="t" l="l"/>
                <a:pathLst>
                  <a:path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59" id="59"/>
              <p:cNvSpPr/>
              <p:nvPr/>
            </p:nvSpPr>
            <p:spPr>
              <a:xfrm flipH="false" flipV="false" rot="0"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r="r" b="b" t="t" l="l"/>
                <a:pathLst>
                  <a:path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27940" y="0"/>
                <a:ext cx="2564130" cy="5182870"/>
              </a:xfrm>
              <a:custGeom>
                <a:avLst/>
                <a:gdLst/>
                <a:ahLst/>
                <a:cxnLst/>
                <a:rect r="r" b="b" t="t" l="l"/>
                <a:pathLst>
                  <a:path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</p:grpSp>
      <p:sp>
        <p:nvSpPr>
          <p:cNvPr name="Freeform 61" id="61"/>
          <p:cNvSpPr/>
          <p:nvPr/>
        </p:nvSpPr>
        <p:spPr>
          <a:xfrm flipH="false" flipV="false" rot="0">
            <a:off x="12679010" y="23137953"/>
            <a:ext cx="2268967" cy="746696"/>
          </a:xfrm>
          <a:custGeom>
            <a:avLst/>
            <a:gdLst/>
            <a:ahLst/>
            <a:cxnLst/>
            <a:rect r="r" b="b" t="t" l="l"/>
            <a:pathLst>
              <a:path h="746696" w="2268967">
                <a:moveTo>
                  <a:pt x="0" y="0"/>
                </a:moveTo>
                <a:lnTo>
                  <a:pt x="2268967" y="0"/>
                </a:lnTo>
                <a:lnTo>
                  <a:pt x="2268967" y="746696"/>
                </a:lnTo>
                <a:lnTo>
                  <a:pt x="0" y="7466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0" y="225126"/>
            <a:ext cx="48768000" cy="435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2"/>
              </a:lnSpc>
              <a:spcBef>
                <a:spcPct val="0"/>
              </a:spcBef>
            </a:pPr>
            <a:r>
              <a:rPr lang="en-US" b="true" sz="2410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 Screenshot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987770" y="23033178"/>
            <a:ext cx="438417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 The App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783257" y="23033178"/>
            <a:ext cx="604123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 To VITALIS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through Bluetooth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052613" y="23033178"/>
            <a:ext cx="675054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Press the Button On 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VITALIS to get Results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4883050" y="23033178"/>
            <a:ext cx="633769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1F2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Generate the Report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22217501" y="23592507"/>
            <a:ext cx="2559512" cy="842312"/>
          </a:xfrm>
          <a:custGeom>
            <a:avLst/>
            <a:gdLst/>
            <a:ahLst/>
            <a:cxnLst/>
            <a:rect r="r" b="b" t="t" l="l"/>
            <a:pathLst>
              <a:path h="842312" w="2559512">
                <a:moveTo>
                  <a:pt x="0" y="0"/>
                </a:moveTo>
                <a:lnTo>
                  <a:pt x="2559512" y="0"/>
                </a:lnTo>
                <a:lnTo>
                  <a:pt x="2559512" y="842312"/>
                </a:lnTo>
                <a:lnTo>
                  <a:pt x="0" y="8423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32469909" y="24116199"/>
            <a:ext cx="2545283" cy="837629"/>
          </a:xfrm>
          <a:custGeom>
            <a:avLst/>
            <a:gdLst/>
            <a:ahLst/>
            <a:cxnLst/>
            <a:rect r="r" b="b" t="t" l="l"/>
            <a:pathLst>
              <a:path h="837629" w="2545283">
                <a:moveTo>
                  <a:pt x="0" y="0"/>
                </a:moveTo>
                <a:lnTo>
                  <a:pt x="2545282" y="0"/>
                </a:lnTo>
                <a:lnTo>
                  <a:pt x="2545282" y="837629"/>
                </a:lnTo>
                <a:lnTo>
                  <a:pt x="0" y="8376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8768000" cy="27432000"/>
          </a:xfrm>
          <a:custGeom>
            <a:avLst/>
            <a:gdLst/>
            <a:ahLst/>
            <a:cxnLst/>
            <a:rect r="r" b="b" t="t" l="l"/>
            <a:pathLst>
              <a:path h="27432000" w="48768000">
                <a:moveTo>
                  <a:pt x="0" y="0"/>
                </a:moveTo>
                <a:lnTo>
                  <a:pt x="48768000" y="0"/>
                </a:lnTo>
                <a:lnTo>
                  <a:pt x="48768000" y="27432000"/>
                </a:lnTo>
                <a:lnTo>
                  <a:pt x="0" y="2743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DAHIP3OnNQA</dc:identifier>
  <dcterms:modified xsi:type="dcterms:W3CDTF">2011-08-01T06:04:30Z</dcterms:modified>
  <cp:revision>1</cp:revision>
  <dc:title>VITALIS Pitch Deck</dc:title>
</cp:coreProperties>
</file>